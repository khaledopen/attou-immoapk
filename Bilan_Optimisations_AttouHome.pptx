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1">
                <a:solidFill>
                  <a:srgbClr val="F97316"/>
                </a:solidFill>
                <a:latin typeface="Arial"/>
              </a:defRPr>
            </a:pPr>
            <a:r>
              <a:t>ATTOUHOME  •  BILAN TECHNIQUE DES ÉVOLUTIONS</a:t>
            </a:r>
          </a:p>
          <a:p>
            <a:pPr>
              <a:spcAft>
                <a:spcPts val="18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Évolutions de la Plateforme</a:t>
            </a:r>
            <a:br/>
            <a:r>
              <a:t>Messagerie, Alertes, Visites &amp; Modération</a:t>
            </a:r>
          </a:p>
          <a:p>
            <a:pPr>
              <a:spcBef>
                <a:spcPts val="1000"/>
              </a:spcBef>
              <a:defRPr sz="1800">
                <a:solidFill>
                  <a:srgbClr val="0EA5E9"/>
                </a:solidFill>
                <a:latin typeface="Arial"/>
              </a:defRPr>
            </a:pPr>
            <a:r>
              <a:t>Présentation complète des fonctionnalités développées et stabilisées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1. Messagerie Temps Réel Résiliente</a:t>
            </a:r>
          </a:p>
          <a:p>
            <a:pPr>
              <a:spcBef>
                <a:spcPts val="600"/>
              </a:spcBef>
              <a:defRPr sz="1400" i="1">
                <a:solidFill>
                  <a:srgbClr val="0EA5E9"/>
                </a:solidFill>
                <a:latin typeface="Arial"/>
              </a:defRPr>
            </a:pPr>
            <a:r>
              <a:t>Stabilisation et robustesse de la connexion client-serveur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LE PROBLÈME RENCONTRÉ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Échec de réception des messages en temps réel sur les appareils mobiles.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Le tunnel Ngrok bloquait les connexions WebSockets pures.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Routage restreint par transports forcés ('websocket' uniquement).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Échecs de comparaison d'ID dus à des différences de type (String vs Object).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RÉSOLUTIONS APPORTÉES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Ajout du fallback de transport : ['polling', 'websocket'] pour contourner les blocages réseau.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Injection automatique des en-têtes Ngrok pour bypasser la page d'avertissement de tunnel.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Standardisation globale du hook useSocket et des connexions dans l'owner-app et la tenant-app.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Cast explicite String(id) pour sécuriser la logique de dispatch des messages reçus.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2. Alertes Sonores (expo-av)</a:t>
            </a:r>
          </a:p>
          <a:p>
            <a:pPr>
              <a:spcBef>
                <a:spcPts val="600"/>
              </a:spcBef>
              <a:defRPr sz="1400" i="1">
                <a:solidFill>
                  <a:srgbClr val="0EA5E9"/>
                </a:solidFill>
                <a:latin typeface="Arial"/>
              </a:defRPr>
            </a:pPr>
            <a:r>
              <a:t>Création d'une identité sonore pour une réactivité maximale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INTÉGRATION TECHNIQUE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Installation de la librairie native Expo 'expo-av' dans les deux applications mobiles.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Création d'un utilitaire partagé 'notificationSound.ts' gérant la lecture et le déchargement.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Fichiers audios MP3 légers créés et intégrés directement sous 'assets/sounds/'.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97316"/>
                </a:solidFill>
                <a:latin typeface="Arial"/>
              </a:defRPr>
            </a:pPr>
            <a:r>
              <a:t>SCÉNARIOS AUDIOS INTÉGRÉS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Réception d'un message : Un son court doux type 'ding-ding' (ne se déclenche pas pour ses propres messages).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Création d'un bien / Notifications : Un son arpège ascendant distinctif type 'notification'.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Nettoyage automatique : Déchargement de la mémoire après chaque lecture pour éviter les fuites audio.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Intégration globale dans les layouts mobiles pour capter toutes les alertes en tâche de fond.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3. Flux de Demande de Visite (Date &amp; Heure)</a:t>
            </a:r>
          </a:p>
          <a:p>
            <a:pPr>
              <a:spcBef>
                <a:spcPts val="600"/>
              </a:spcBef>
              <a:defRPr sz="1400" i="1">
                <a:solidFill>
                  <a:srgbClr val="0EA5E9"/>
                </a:solidFill>
                <a:latin typeface="Arial"/>
              </a:defRPr>
            </a:pPr>
            <a:r>
              <a:t>Double validation intuitive et prise de rendez-vous complète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EXPÉRIENCE LOCATAIRE (TENANT)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La carte propriétaire et l'avatar sur la fiche du bien sont désormais cliquables pour contacter le propriétaire.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Alerte si aucune visite n'est encore planifiée pour rediriger vers la demande préalable.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Enchaînement automatique : Sélection du jour sur le calendrier, puis ouverture immédiate du sélecteur d'heure (TimePicker).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Combinaison robuste de la date et de l'heure locale converties en ISO avant envoi au serveur.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EXPÉRIENCE PROPRIÉTAIRE (OWNER)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Affichage clair de la date et de l'heure sur l'écran d'accueil/Dashboard (ex: '4 juin à 15:30').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Rendu complet dans la liste des visites pour faciliter la planification de l'agenda.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Vérification instantanée lors du chargement des demandes.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4. Expiration Automatique sous 72 Heures</a:t>
            </a:r>
          </a:p>
          <a:p>
            <a:pPr>
              <a:spcBef>
                <a:spcPts val="600"/>
              </a:spcBef>
              <a:defRPr sz="1400" i="1">
                <a:solidFill>
                  <a:srgbClr val="0EA5E9"/>
                </a:solidFill>
                <a:latin typeface="Arial"/>
              </a:defRPr>
            </a:pPr>
            <a:r>
              <a:t>Gestion dynamique et notification automatique des rendez-vous échus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RÈGLE ET LOGIQUE BACKEND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Une tâche de fond du serveur (`setInterval` de 60 secondes) exécute la routine `expireVisits`.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Toutes les demandes en statut 'EN_ATTENTE' datant de plus de 72h passent automatiquement en statut 'REFUSEE'.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Création automatique d'une notification persistante dans la base de données PostgreSQL.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97316"/>
                </a:solidFill>
                <a:latin typeface="Arial"/>
              </a:defRPr>
            </a:pPr>
            <a:r>
              <a:t>NOTIFICATIONS TEMPS RÉEL CLIENT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Émission socket d'une notification instantanée 'VISITE_EXPIREE' au locataire concerné.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Le client mobile intercepte l'événement, déclenche une alerte système (Alert.alert) et joue immédiatement le son de notification pour avertir l'utilisateur.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Mise à jour directe du statut dans l'historique des visites du locataire.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5. Signalement &amp; Modération sous 24h</a:t>
            </a:r>
          </a:p>
          <a:p>
            <a:pPr>
              <a:spcBef>
                <a:spcPts val="600"/>
              </a:spcBef>
              <a:defRPr sz="1400" i="1">
                <a:solidFill>
                  <a:srgbClr val="0EA5E9"/>
                </a:solidFill>
                <a:latin typeface="Arial"/>
              </a:defRPr>
            </a:pPr>
            <a:r>
              <a:t>Sécurité des annonces et contrôle de la messagerie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SIGNALEMENT ET EFFET DIRECT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Le signalement passe l'annonce en 'SUSPENDUE' et la retire des recherches.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Délai officiel de 24h donné au propriétaire pour corriger les erreurs (photo incorrecte, fausse description, etc.).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• Remise en location sécurisée : validation renforcée de la limite (20 annonces max).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CONTRÔLE DE MESSAGERIE ET BANNIÈRE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Affichage d'un badge rouge 'Modération' et d'une bannière d'alerte officielle de l'administration dans le chat du propriétaire.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Verrouillage total de la messagerie : le propriétaire ne peut plus envoyer de messages dans cette conversation.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✔ Mise à jour instantanée des listes de biens chez le locataire via focus de page et sockets.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F97316"/>
                </a:solidFill>
                <a:latin typeface="Arial"/>
              </a:defRPr>
            </a:pPr>
            <a:r>
              <a:t>BILAN DE LA VALEUR AJOUTÉE</a:t>
            </a:r>
          </a:p>
          <a:p>
            <a:pPr>
              <a:spcBef>
                <a:spcPts val="12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1. Expérience client de haute qualité : Des retours sonores immersifs et un sélecteur de date/heure très fluide.</a:t>
            </a:r>
          </a:p>
          <a:p>
            <a:pPr>
              <a:spcBef>
                <a:spcPts val="12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2. Sécurisation commerciale : Pas de chat possible entre locataires et propriétaires sans demande de visite validée au préalable.</a:t>
            </a:r>
          </a:p>
          <a:p>
            <a:pPr>
              <a:spcBef>
                <a:spcPts val="12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3. Automatisation intelligente : Système d'expiration des visites à 72h et alertes de modération à 24h gérés automatiquement par le serveur.</a:t>
            </a:r>
          </a:p>
          <a:p>
            <a:pPr>
              <a:spcBef>
                <a:spcPts val="12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4. Résilience technique : Connexions WebSocket stabilisées avec fallback HTTP polling en cas d'utilisation de tunnels Ngrok.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