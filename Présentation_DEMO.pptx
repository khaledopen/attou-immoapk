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6" r:id="rId9"/>
    <p:sldId id="267" r:id="rId10"/>
    <p:sldId id="263" r:id="rId11"/>
    <p:sldId id="264" r:id="rId12"/>
    <p:sldId id="265" r:id="rId13"/>
    <p:sldId id="268" r:id="rId14"/>
    <p:sldId id="269" r:id="rId15"/>
    <p:sldId id="272" r:id="rId16"/>
    <p:sldId id="270" r:id="rId17"/>
    <p:sldId id="271" r:id="rId18"/>
    <p:sldId id="273" r:id="rId19"/>
    <p:sldId id="274" r:id="rId20"/>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944" autoAdjust="0"/>
    <p:restoredTop sz="94660"/>
  </p:normalViewPr>
  <p:slideViewPr>
    <p:cSldViewPr snapToGrid="0">
      <p:cViewPr>
        <p:scale>
          <a:sx n="40" d="100"/>
          <a:sy n="40" d="100"/>
        </p:scale>
        <p:origin x="1157" y="5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fr-FR" smtClean="0"/>
              <a:t>Modifiez le style du titre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fr-FR" smtClean="0"/>
              <a:t>Modifier le style des sous-titres du masque</a:t>
            </a:r>
            <a:endParaRPr lang="en-US" dirty="0"/>
          </a:p>
        </p:txBody>
      </p:sp>
      <p:sp>
        <p:nvSpPr>
          <p:cNvPr id="4" name="Date Placeholder 3"/>
          <p:cNvSpPr>
            <a:spLocks noGrp="1"/>
          </p:cNvSpPr>
          <p:nvPr>
            <p:ph type="dt" sz="half" idx="10"/>
          </p:nvPr>
        </p:nvSpPr>
        <p:spPr/>
        <p:txBody>
          <a:bodyPr/>
          <a:lstStyle/>
          <a:p>
            <a:fld id="{B15B6476-63D3-49FF-8DFE-CC0E5B83AC5F}" type="datetimeFigureOut">
              <a:rPr lang="fr-FR" smtClean="0"/>
              <a:t>08/07/2026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874203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15B6476-63D3-49FF-8DFE-CC0E5B83AC5F}" type="datetimeFigureOut">
              <a:rPr lang="fr-FR" smtClean="0"/>
              <a:t>08/07/2026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1176064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fr-FR" smtClean="0"/>
              <a:t>Modifiez le style du titre</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fr-FR" smtClean="0"/>
              <a:t>Modifier les styles du texte du masque</a:t>
            </a:r>
          </a:p>
        </p:txBody>
      </p:sp>
      <p:sp>
        <p:nvSpPr>
          <p:cNvPr id="4" name="Date Placeholder 3"/>
          <p:cNvSpPr>
            <a:spLocks noGrp="1"/>
          </p:cNvSpPr>
          <p:nvPr>
            <p:ph type="dt" sz="half" idx="10"/>
          </p:nvPr>
        </p:nvSpPr>
        <p:spPr/>
        <p:txBody>
          <a:bodyPr/>
          <a:lstStyle/>
          <a:p>
            <a:fld id="{B15B6476-63D3-49FF-8DFE-CC0E5B83AC5F}" type="datetimeFigureOut">
              <a:rPr lang="fr-FR" smtClean="0"/>
              <a:t>08/07/2026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4099205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Date Placeholder 4"/>
          <p:cNvSpPr>
            <a:spLocks noGrp="1"/>
          </p:cNvSpPr>
          <p:nvPr>
            <p:ph type="dt" sz="half" idx="10"/>
          </p:nvPr>
        </p:nvSpPr>
        <p:spPr/>
        <p:txBody>
          <a:bodyPr/>
          <a:lstStyle/>
          <a:p>
            <a:fld id="{B15B6476-63D3-49FF-8DFE-CC0E5B83AC5F}" type="datetimeFigureOut">
              <a:rPr lang="fr-FR" smtClean="0"/>
              <a:t>08/07/2026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2338155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fr-FR" smtClean="0"/>
              <a:t>Modifiez le style du titre</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fr-FR" smtClean="0"/>
              <a:t>Modifier les styles du texte du masque</a:t>
            </a:r>
          </a:p>
        </p:txBody>
      </p:sp>
      <p:sp>
        <p:nvSpPr>
          <p:cNvPr id="4" name="Content Placeholder 3"/>
          <p:cNvSpPr>
            <a:spLocks noGrp="1"/>
          </p:cNvSpPr>
          <p:nvPr>
            <p:ph sz="half" idx="2"/>
          </p:nvPr>
        </p:nvSpPr>
        <p:spPr>
          <a:xfrm>
            <a:off x="1259683" y="3757613"/>
            <a:ext cx="7736681" cy="552688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fr-FR" smtClean="0"/>
              <a:t>Modifier les styles du texte du masque</a:t>
            </a:r>
          </a:p>
        </p:txBody>
      </p:sp>
      <p:sp>
        <p:nvSpPr>
          <p:cNvPr id="6" name="Content Placeholder 5"/>
          <p:cNvSpPr>
            <a:spLocks noGrp="1"/>
          </p:cNvSpPr>
          <p:nvPr>
            <p:ph sz="quarter" idx="4"/>
          </p:nvPr>
        </p:nvSpPr>
        <p:spPr>
          <a:xfrm>
            <a:off x="9258300" y="3757613"/>
            <a:ext cx="7774782" cy="5526882"/>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7" name="Date Placeholder 6"/>
          <p:cNvSpPr>
            <a:spLocks noGrp="1"/>
          </p:cNvSpPr>
          <p:nvPr>
            <p:ph type="dt" sz="half" idx="10"/>
          </p:nvPr>
        </p:nvSpPr>
        <p:spPr/>
        <p:txBody>
          <a:bodyPr/>
          <a:lstStyle/>
          <a:p>
            <a:fld id="{B15B6476-63D3-49FF-8DFE-CC0E5B83AC5F}" type="datetimeFigureOut">
              <a:rPr lang="fr-FR" smtClean="0"/>
              <a:t>08/07/2026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6265916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Date Placeholder 2"/>
          <p:cNvSpPr>
            <a:spLocks noGrp="1"/>
          </p:cNvSpPr>
          <p:nvPr>
            <p:ph type="dt" sz="half" idx="10"/>
          </p:nvPr>
        </p:nvSpPr>
        <p:spPr/>
        <p:txBody>
          <a:bodyPr/>
          <a:lstStyle/>
          <a:p>
            <a:fld id="{B15B6476-63D3-49FF-8DFE-CC0E5B83AC5F}" type="datetimeFigureOut">
              <a:rPr lang="fr-FR" smtClean="0"/>
              <a:t>08/07/2026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1893389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5B6476-63D3-49FF-8DFE-CC0E5B83AC5F}" type="datetimeFigureOut">
              <a:rPr lang="fr-FR" smtClean="0"/>
              <a:t>08/07/2026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990162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fr-FR" smtClean="0"/>
              <a:t>Modifiez le style du titre</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15B6476-63D3-49FF-8DFE-CC0E5B83AC5F}" type="datetimeFigureOut">
              <a:rPr lang="fr-FR" smtClean="0"/>
              <a:t>08/07/2026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1561762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fr-FR" smtClean="0"/>
              <a:t>Modifiez le style du titre</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fr-FR" smtClean="0"/>
              <a:t>Cliquez sur l'icône pour ajouter une image</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fr-FR" smtClean="0"/>
              <a:t>Modifier les styles du texte du masque</a:t>
            </a:r>
          </a:p>
        </p:txBody>
      </p:sp>
      <p:sp>
        <p:nvSpPr>
          <p:cNvPr id="5" name="Date Placeholder 4"/>
          <p:cNvSpPr>
            <a:spLocks noGrp="1"/>
          </p:cNvSpPr>
          <p:nvPr>
            <p:ph type="dt" sz="half" idx="10"/>
          </p:nvPr>
        </p:nvSpPr>
        <p:spPr/>
        <p:txBody>
          <a:bodyPr/>
          <a:lstStyle/>
          <a:p>
            <a:fld id="{B15B6476-63D3-49FF-8DFE-CC0E5B83AC5F}" type="datetimeFigureOut">
              <a:rPr lang="fr-FR" smtClean="0"/>
              <a:t>08/07/2026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2614283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mtClean="0"/>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15B6476-63D3-49FF-8DFE-CC0E5B83AC5F}" type="datetimeFigureOut">
              <a:rPr lang="fr-FR" smtClean="0"/>
              <a:t>08/07/2026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321601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fr-FR" smtClean="0"/>
              <a:t>Modifiez le style du titre</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10"/>
          </p:nvPr>
        </p:nvSpPr>
        <p:spPr/>
        <p:txBody>
          <a:bodyPr/>
          <a:lstStyle/>
          <a:p>
            <a:fld id="{B15B6476-63D3-49FF-8DFE-CC0E5B83AC5F}" type="datetimeFigureOut">
              <a:rPr lang="fr-FR" smtClean="0"/>
              <a:t>08/07/2026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F602E24A-6256-4570-855D-A269B5A4E165}" type="slidenum">
              <a:rPr lang="fr-FR" smtClean="0"/>
              <a:t>‹N°›</a:t>
            </a:fld>
            <a:endParaRPr lang="fr-FR"/>
          </a:p>
        </p:txBody>
      </p:sp>
    </p:spTree>
    <p:extLst>
      <p:ext uri="{BB962C8B-B14F-4D97-AF65-F5344CB8AC3E}">
        <p14:creationId xmlns:p14="http://schemas.microsoft.com/office/powerpoint/2010/main" val="216892828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fr-FR" smtClean="0"/>
              <a:t>Modifiez le style du titre</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B15B6476-63D3-49FF-8DFE-CC0E5B83AC5F}" type="datetimeFigureOut">
              <a:rPr lang="fr-FR" smtClean="0"/>
              <a:t>08/07/2026</a:t>
            </a:fld>
            <a:endParaRPr lang="fr-F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F602E24A-6256-4570-855D-A269B5A4E165}" type="slidenum">
              <a:rPr lang="fr-FR" smtClean="0"/>
              <a:t>‹N°›</a:t>
            </a:fld>
            <a:endParaRPr lang="fr-FR"/>
          </a:p>
        </p:txBody>
      </p:sp>
    </p:spTree>
    <p:extLst>
      <p:ext uri="{BB962C8B-B14F-4D97-AF65-F5344CB8AC3E}">
        <p14:creationId xmlns:p14="http://schemas.microsoft.com/office/powerpoint/2010/main" val="306835453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 name="Freeform 5"/>
          <p:cNvSpPr/>
          <p:nvPr/>
        </p:nvSpPr>
        <p:spPr>
          <a:xfrm>
            <a:off x="504650" y="304800"/>
            <a:ext cx="3183430" cy="2835682"/>
          </a:xfrm>
          <a:custGeom>
            <a:avLst/>
            <a:gdLst/>
            <a:ahLst/>
            <a:cxnLst/>
            <a:rect l="l" t="t" r="r" b="b"/>
            <a:pathLst>
              <a:path w="3393819" h="2752926">
                <a:moveTo>
                  <a:pt x="0" y="0"/>
                </a:moveTo>
                <a:lnTo>
                  <a:pt x="3393819" y="0"/>
                </a:lnTo>
                <a:lnTo>
                  <a:pt x="3393819" y="2752926"/>
                </a:lnTo>
                <a:lnTo>
                  <a:pt x="0" y="2752926"/>
                </a:lnTo>
                <a:lnTo>
                  <a:pt x="0" y="0"/>
                </a:lnTo>
                <a:close/>
              </a:path>
            </a:pathLst>
          </a:custGeom>
          <a:blipFill>
            <a:blip r:embed="rId2"/>
            <a:stretch>
              <a:fillRect/>
            </a:stretch>
          </a:blipFill>
        </p:spPr>
        <p:txBody>
          <a:bodyPr/>
          <a:lstStyle/>
          <a:p>
            <a:endParaRPr lang="fr-FR" sz="6075"/>
          </a:p>
        </p:txBody>
      </p:sp>
      <p:pic>
        <p:nvPicPr>
          <p:cNvPr id="5" name="Image 4"/>
          <p:cNvPicPr/>
          <p:nvPr/>
        </p:nvPicPr>
        <p:blipFill>
          <a:blip r:embed="rId3" cstate="print">
            <a:extLst>
              <a:ext uri="{28A0092B-C50C-407E-A947-70E740481C1C}">
                <a14:useLocalDpi xmlns:a14="http://schemas.microsoft.com/office/drawing/2010/main" val="0"/>
              </a:ext>
            </a:extLst>
          </a:blip>
          <a:stretch>
            <a:fillRect/>
          </a:stretch>
        </p:blipFill>
        <p:spPr>
          <a:xfrm>
            <a:off x="14046871" y="304800"/>
            <a:ext cx="3936489" cy="2034886"/>
          </a:xfrm>
          <a:prstGeom prst="rect">
            <a:avLst/>
          </a:prstGeom>
        </p:spPr>
      </p:pic>
      <p:sp>
        <p:nvSpPr>
          <p:cNvPr id="6" name="TextBox 6"/>
          <p:cNvSpPr txBox="1"/>
          <p:nvPr/>
        </p:nvSpPr>
        <p:spPr>
          <a:xfrm>
            <a:off x="372835" y="2963257"/>
            <a:ext cx="8085365" cy="807913"/>
          </a:xfrm>
          <a:prstGeom prst="rect">
            <a:avLst/>
          </a:prstGeom>
        </p:spPr>
        <p:txBody>
          <a:bodyPr wrap="square" lIns="0" tIns="0" rIns="0" bIns="0" rtlCol="0" anchor="t">
            <a:spAutoFit/>
          </a:bodyPr>
          <a:lstStyle/>
          <a:p>
            <a:pPr>
              <a:lnSpc>
                <a:spcPts val="6300"/>
              </a:lnSpc>
              <a:spcBef>
                <a:spcPct val="0"/>
              </a:spcBef>
              <a:defRPr sz="1800" b="1">
                <a:solidFill>
                  <a:srgbClr val="15803D"/>
                </a:solidFill>
                <a:latin typeface="Segoe UI"/>
              </a:defRPr>
            </a:pPr>
            <a:r>
              <a:rPr lang="en-US" sz="1800" b="1" dirty="0">
                <a:solidFill>
                  <a:srgbClr val="15803D"/>
                </a:solidFill>
                <a:latin typeface="Segoe UI"/>
                <a:ea typeface="Times New Roman Bold"/>
                <a:cs typeface="Times New Roman Bold"/>
                <a:sym typeface="Times New Roman Bold"/>
              </a:rPr>
              <a:t>UNIVERSITE POLYTECHNIQUE DE BINGERVILLE</a:t>
            </a:r>
          </a:p>
        </p:txBody>
      </p:sp>
      <p:sp>
        <p:nvSpPr>
          <p:cNvPr id="7" name="TextBox 7"/>
          <p:cNvSpPr txBox="1"/>
          <p:nvPr/>
        </p:nvSpPr>
        <p:spPr>
          <a:xfrm>
            <a:off x="2096365" y="4003576"/>
            <a:ext cx="13817743" cy="1795363"/>
          </a:xfrm>
          <a:prstGeom prst="rect">
            <a:avLst/>
          </a:prstGeom>
        </p:spPr>
        <p:txBody>
          <a:bodyPr lIns="0" tIns="0" rIns="0" bIns="0" rtlCol="0" anchor="t">
            <a:spAutoFit/>
          </a:bodyPr>
          <a:lstStyle/>
          <a:p>
            <a:pPr algn="ctr">
              <a:lnSpc>
                <a:spcPts val="3499"/>
              </a:lnSpc>
              <a:defRPr sz="2400" b="1">
                <a:solidFill>
                  <a:srgbClr val="1E293B"/>
                </a:solidFill>
                <a:latin typeface="Segoe UI"/>
              </a:defRPr>
            </a:pPr>
            <a:r>
              <a:rPr lang="en-US" sz="2400" b="1" dirty="0">
                <a:solidFill>
                  <a:srgbClr val="1E293B"/>
                </a:solidFill>
                <a:latin typeface="Segoe UI"/>
                <a:ea typeface="Times New Roman Bold"/>
                <a:cs typeface="Times New Roman Bold"/>
                <a:sym typeface="Times New Roman Bold"/>
              </a:rPr>
              <a:t>MÉMOIRE DE FIN DE CYCLE</a:t>
            </a:r>
          </a:p>
          <a:p>
            <a:pPr algn="ctr">
              <a:lnSpc>
                <a:spcPts val="3499"/>
              </a:lnSpc>
              <a:defRPr sz="2400" b="1">
                <a:solidFill>
                  <a:srgbClr val="1E293B"/>
                </a:solidFill>
                <a:latin typeface="Segoe UI"/>
              </a:defRPr>
            </a:pPr>
            <a:r>
              <a:rPr lang="en-US" sz="2400" dirty="0" smtClean="0" b="1">
                <a:solidFill>
                  <a:srgbClr val="1E293B"/>
                </a:solidFill>
                <a:latin typeface="Segoe UI"/>
                <a:ea typeface="Times New Roman"/>
                <a:cs typeface="Times New Roman"/>
                <a:sym typeface="Times New Roman"/>
              </a:rPr>
              <a:t>POUR </a:t>
            </a:r>
            <a:r>
              <a:rPr lang="en-US" sz="2400" dirty="0" smtClean="0" b="1">
                <a:solidFill>
                  <a:srgbClr val="1E293B"/>
                </a:solidFill>
                <a:latin typeface="Segoe UI"/>
                <a:ea typeface="Times New Roman"/>
                <a:cs typeface="Times New Roman"/>
                <a:sym typeface="Times New Roman"/>
              </a:rPr>
              <a:t> L’OBTENTION DU DIPLÔME DE</a:t>
            </a:r>
          </a:p>
          <a:p>
            <a:pPr algn="ctr">
              <a:lnSpc>
                <a:spcPts val="3499"/>
              </a:lnSpc>
              <a:spcBef>
                <a:spcPct val="0"/>
              </a:spcBef>
              <a:defRPr sz="2400" b="1">
                <a:solidFill>
                  <a:srgbClr val="1E293B"/>
                </a:solidFill>
                <a:latin typeface="Segoe UI"/>
              </a:defRPr>
            </a:pPr>
            <a:r>
              <a:rPr lang="fr-FR" sz="2400" dirty="0" b="1">
                <a:solidFill>
                  <a:srgbClr val="1E293B"/>
                </a:solidFill>
                <a:latin typeface="Segoe UI" panose="02020603050405020304" pitchFamily="18" charset="0"/>
                <a:cs typeface="Times New Roman" panose="02020603050405020304" pitchFamily="18" charset="0"/>
              </a:rPr>
              <a:t>LICENCE DE MÉTHODES INFORMATIQUES APPLIQUÉES À LA GESTION DES ENTREPRISES (MIAGE)</a:t>
            </a:r>
            <a:endParaRPr lang="en-US" sz="2500" dirty="0">
              <a:solidFill>
                <a:srgbClr val="000000"/>
              </a:solidFill>
              <a:latin typeface="Times New Roman" panose="02020603050405020304" pitchFamily="18" charset="0"/>
              <a:ea typeface="Times New Roman Bold"/>
              <a:cs typeface="Times New Roman" panose="02020603050405020304" pitchFamily="18" charset="0"/>
              <a:sym typeface="Times New Roman Bold"/>
            </a:endParaRPr>
          </a:p>
        </p:txBody>
      </p:sp>
      <p:sp>
        <p:nvSpPr>
          <p:cNvPr id="8" name="TextBox 8"/>
          <p:cNvSpPr txBox="1"/>
          <p:nvPr/>
        </p:nvSpPr>
        <p:spPr>
          <a:xfrm>
            <a:off x="3493616" y="6296660"/>
            <a:ext cx="12215169" cy="1292662"/>
          </a:xfrm>
          <a:prstGeom prst="rect">
            <a:avLst/>
          </a:prstGeom>
        </p:spPr>
        <p:txBody>
          <a:bodyPr lIns="0" tIns="0" rIns="0" bIns="0" rtlCol="0" anchor="t">
            <a:spAutoFit/>
          </a:bodyPr>
          <a:lstStyle/>
          <a:p>
            <a:pPr algn="ctr">
              <a:defRPr sz="2800" b="1">
                <a:solidFill>
                  <a:srgbClr val="15803D"/>
                </a:solidFill>
                <a:latin typeface="Segoe UI"/>
              </a:defRPr>
            </a:pPr>
            <a:r>
              <a:rPr lang="en-US" sz="2800" b="1" u="sng" dirty="0" smtClean="0">
                <a:solidFill>
                  <a:srgbClr val="15803D"/>
                </a:solidFill>
                <a:latin typeface="Segoe UI"/>
                <a:ea typeface="Times New Roman Bold"/>
                <a:cs typeface="Times New Roman Bold"/>
                <a:sym typeface="Times New Roman Bold"/>
              </a:rPr>
              <a:t>THEME</a:t>
            </a:r>
            <a:r>
              <a:rPr lang="en-US" sz="2800" b="1" dirty="0" smtClean="0">
                <a:solidFill>
                  <a:srgbClr val="15803D"/>
                </a:solidFill>
                <a:latin typeface="Segoe UI"/>
                <a:ea typeface="Times New Roman Bold"/>
                <a:cs typeface="Times New Roman Bold"/>
                <a:sym typeface="Times New Roman Bold"/>
              </a:rPr>
              <a:t> : </a:t>
            </a:r>
            <a:r>
              <a:rPr lang="fr-FR" sz="2800" b="1" dirty="0">
                <a:solidFill>
                  <a:srgbClr val="15803D"/>
                </a:solidFill>
                <a:latin typeface="Segoe UI" panose="02020603050405020304" pitchFamily="18" charset="0"/>
                <a:cs typeface="Times New Roman" panose="02020603050405020304" pitchFamily="18" charset="0"/>
              </a:rPr>
              <a:t>CONCEPTION ET RÉALISATION D’UNE APPLICATION WEB ET MOBILE POUR LA RECHERCHE DE LOGEMENT EN LOCATION POUR LA FILIALE IMMOBILIÈRE DU GROUPE ATTOU CORPORATE </a:t>
            </a:r>
            <a:endParaRPr lang="en-US" dirty="0">
              <a:latin typeface="Times New Roman" panose="02020603050405020304" pitchFamily="18" charset="0"/>
              <a:cs typeface="Times New Roman" panose="02020603050405020304" pitchFamily="18" charset="0"/>
            </a:endParaRPr>
          </a:p>
        </p:txBody>
      </p:sp>
      <p:sp>
        <p:nvSpPr>
          <p:cNvPr id="9" name="TextBox 9"/>
          <p:cNvSpPr txBox="1"/>
          <p:nvPr/>
        </p:nvSpPr>
        <p:spPr>
          <a:xfrm>
            <a:off x="834549" y="8438833"/>
            <a:ext cx="4011771" cy="1346522"/>
          </a:xfrm>
          <a:prstGeom prst="rect">
            <a:avLst/>
          </a:prstGeom>
        </p:spPr>
        <p:txBody>
          <a:bodyPr wrap="square" lIns="0" tIns="0" rIns="0" bIns="0" rtlCol="0" anchor="t">
            <a:spAutoFit/>
          </a:bodyPr>
          <a:lstStyle/>
          <a:p>
            <a:pPr algn="ctr">
              <a:lnSpc>
                <a:spcPts val="3499"/>
              </a:lnSpc>
              <a:defRPr sz="1600">
                <a:solidFill>
                  <a:srgbClr val="1E293B"/>
                </a:solidFill>
                <a:latin typeface="Segoe UI"/>
              </a:defRPr>
            </a:pPr>
            <a:r>
              <a:rPr lang="en-US" sz="1600" u="sng" dirty="0">
                <a:solidFill>
                  <a:srgbClr val="1E293B"/>
                </a:solidFill>
                <a:latin typeface="Segoe UI"/>
                <a:ea typeface="Times New Roman Bold"/>
                <a:cs typeface="Times New Roman Bold"/>
                <a:sym typeface="Times New Roman Bold"/>
              </a:rPr>
              <a:t>ENCADRANT</a:t>
            </a:r>
            <a:r>
              <a:rPr lang="en-US" sz="1600" dirty="0">
                <a:solidFill>
                  <a:srgbClr val="1E293B"/>
                </a:solidFill>
                <a:latin typeface="Segoe UI"/>
                <a:ea typeface="Times New Roman Bold"/>
                <a:cs typeface="Times New Roman Bold"/>
                <a:sym typeface="Times New Roman Bold"/>
              </a:rPr>
              <a:t> : </a:t>
            </a:r>
          </a:p>
          <a:p>
            <a:pPr algn="ctr">
              <a:lnSpc>
                <a:spcPts val="3499"/>
              </a:lnSpc>
              <a:defRPr sz="1600">
                <a:solidFill>
                  <a:srgbClr val="1E293B"/>
                </a:solidFill>
                <a:latin typeface="Segoe UI"/>
              </a:defRPr>
            </a:pPr>
            <a:r>
              <a:rPr lang="en-US" sz="1600" dirty="0" smtClean="0">
                <a:solidFill>
                  <a:srgbClr val="1E293B"/>
                </a:solidFill>
                <a:latin typeface="Segoe UI"/>
                <a:ea typeface="Times New Roman Bold"/>
                <a:cs typeface="Times New Roman Bold"/>
                <a:sym typeface="Times New Roman Bold"/>
              </a:rPr>
              <a:t>DR KAMAGATE</a:t>
            </a:r>
            <a:endParaRPr lang="en-US" sz="2499" b="1" dirty="0">
              <a:solidFill>
                <a:srgbClr val="000000"/>
              </a:solidFill>
              <a:latin typeface="Times New Roman Bold"/>
              <a:ea typeface="Times New Roman Bold"/>
              <a:cs typeface="Times New Roman Bold"/>
              <a:sym typeface="Times New Roman Bold"/>
            </a:endParaRPr>
          </a:p>
          <a:p>
            <a:pPr algn="ctr">
              <a:lnSpc>
                <a:spcPts val="3499"/>
              </a:lnSpc>
              <a:spcBef>
                <a:spcPct val="0"/>
              </a:spcBef>
              <a:defRPr sz="1600">
                <a:solidFill>
                  <a:srgbClr val="1E293B"/>
                </a:solidFill>
                <a:latin typeface="Segoe UI"/>
              </a:defRPr>
            </a:pPr>
            <a:r>
              <a:rPr lang="en-US" sz="1600" dirty="0">
                <a:solidFill>
                  <a:srgbClr val="1E293B"/>
                </a:solidFill>
                <a:latin typeface="Segoe UI"/>
                <a:ea typeface="Times New Roman"/>
                <a:cs typeface="Times New Roman"/>
                <a:sym typeface="Times New Roman"/>
              </a:rPr>
              <a:t>ENSEIGNANT À UPB</a:t>
            </a:r>
          </a:p>
        </p:txBody>
      </p:sp>
      <p:sp>
        <p:nvSpPr>
          <p:cNvPr id="10" name="TextBox 10"/>
          <p:cNvSpPr txBox="1"/>
          <p:nvPr/>
        </p:nvSpPr>
        <p:spPr>
          <a:xfrm>
            <a:off x="14602580" y="8477255"/>
            <a:ext cx="3380780" cy="1346522"/>
          </a:xfrm>
          <a:prstGeom prst="rect">
            <a:avLst/>
          </a:prstGeom>
        </p:spPr>
        <p:txBody>
          <a:bodyPr lIns="0" tIns="0" rIns="0" bIns="0" rtlCol="0" anchor="t">
            <a:spAutoFit/>
          </a:bodyPr>
          <a:lstStyle/>
          <a:p>
            <a:pPr algn="ctr">
              <a:lnSpc>
                <a:spcPts val="3499"/>
              </a:lnSpc>
              <a:defRPr sz="1600">
                <a:solidFill>
                  <a:srgbClr val="1E293B"/>
                </a:solidFill>
                <a:latin typeface="Segoe UI"/>
              </a:defRPr>
            </a:pPr>
            <a:r>
              <a:rPr lang="en-US" sz="1600" u="sng" dirty="0">
                <a:solidFill>
                  <a:srgbClr val="1E293B"/>
                </a:solidFill>
                <a:latin typeface="Segoe UI"/>
                <a:ea typeface="Times New Roman Bold"/>
                <a:cs typeface="Times New Roman Bold"/>
                <a:sym typeface="Times New Roman Bold"/>
              </a:rPr>
              <a:t>MAÎTRE DE STAGE</a:t>
            </a:r>
            <a:r>
              <a:rPr lang="en-US" sz="1600" dirty="0">
                <a:solidFill>
                  <a:srgbClr val="1E293B"/>
                </a:solidFill>
                <a:latin typeface="Segoe UI"/>
                <a:ea typeface="Times New Roman Bold"/>
                <a:cs typeface="Times New Roman Bold"/>
                <a:sym typeface="Times New Roman Bold"/>
              </a:rPr>
              <a:t> :   </a:t>
            </a:r>
          </a:p>
          <a:p>
            <a:pPr algn="ctr">
              <a:lnSpc>
                <a:spcPts val="3499"/>
              </a:lnSpc>
              <a:defRPr sz="1600">
                <a:solidFill>
                  <a:srgbClr val="1E293B"/>
                </a:solidFill>
                <a:latin typeface="Segoe UI"/>
              </a:defRPr>
            </a:pPr>
            <a:r>
              <a:rPr lang="en-US" sz="1600" dirty="0" smtClean="0">
                <a:solidFill>
                  <a:srgbClr val="1E293B"/>
                </a:solidFill>
                <a:latin typeface="Segoe UI"/>
                <a:ea typeface="Times New Roman Bold"/>
                <a:cs typeface="Times New Roman Bold"/>
                <a:sym typeface="Times New Roman Bold"/>
              </a:rPr>
              <a:t>MME KOUAKOU</a:t>
            </a:r>
            <a:endParaRPr lang="en-US" sz="2499" b="1" dirty="0">
              <a:solidFill>
                <a:srgbClr val="000000"/>
              </a:solidFill>
              <a:latin typeface="Times New Roman Bold"/>
              <a:ea typeface="Times New Roman Bold"/>
              <a:cs typeface="Times New Roman Bold"/>
              <a:sym typeface="Times New Roman Bold"/>
            </a:endParaRPr>
          </a:p>
          <a:p>
            <a:pPr algn="ctr">
              <a:lnSpc>
                <a:spcPts val="3499"/>
              </a:lnSpc>
              <a:spcBef>
                <a:spcPct val="0"/>
              </a:spcBef>
              <a:defRPr sz="1600">
                <a:solidFill>
                  <a:srgbClr val="1E293B"/>
                </a:solidFill>
                <a:latin typeface="Segoe UI"/>
              </a:defRPr>
            </a:pPr>
            <a:r>
              <a:rPr lang="en-US" sz="1600" dirty="0">
                <a:solidFill>
                  <a:srgbClr val="1E293B"/>
                </a:solidFill>
                <a:latin typeface="Segoe UI"/>
                <a:ea typeface="Times New Roman"/>
                <a:cs typeface="Times New Roman"/>
                <a:sym typeface="Times New Roman"/>
              </a:rPr>
              <a:t>ASSISTANT RSSI</a:t>
            </a:r>
          </a:p>
        </p:txBody>
      </p:sp>
    </p:spTree>
    <p:extLst>
      <p:ext uri="{BB962C8B-B14F-4D97-AF65-F5344CB8AC3E}">
        <p14:creationId xmlns:p14="http://schemas.microsoft.com/office/powerpoint/2010/main" val="2452342717"/>
      </p:ext>
    </p:extLst>
  </p:cSld>
  <p:clrMapOvr>
    <a:masterClrMapping/>
  </p:clrMapOvr>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44" name="Rounded Rectangle 43"/>
          <p:cNvSpPr/>
          <p:nvPr/>
        </p:nvSpPr>
        <p:spPr>
          <a:xfrm>
            <a:off x="9875520" y="8275320"/>
            <a:ext cx="7132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875520" y="6949440"/>
            <a:ext cx="7132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875520" y="5623559"/>
            <a:ext cx="7132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875520" y="4297680"/>
            <a:ext cx="7132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875520" y="2971800"/>
            <a:ext cx="7132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875520" y="1645920"/>
            <a:ext cx="7132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645920" y="8275320"/>
            <a:ext cx="7132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645920" y="6949440"/>
            <a:ext cx="7132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645920" y="5623559"/>
            <a:ext cx="7132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645920" y="4297680"/>
            <a:ext cx="7132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645920" y="2971800"/>
            <a:ext cx="7132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645920" y="1645920"/>
            <a:ext cx="713232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71600" y="457200"/>
            <a:ext cx="15544800" cy="9144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4000" b="1">
                <a:solidFill>
                  <a:srgbClr val="15803D"/>
                </a:solidFill>
                <a:latin typeface="Segoe UI"/>
              </a:defRPr>
            </a:pPr>
          </a:p>
        </p:txBody>
      </p:sp>
      <p:nvGrpSpPr>
        <p:cNvPr id="1" name=""/>
        <p:cNvGrpSpPr/>
        <p:nvPr/>
      </p:nvGrpSpPr>
      <p:grpSpPr>
        <a:xfrm>
          <a:off x="0" y="0"/>
          <a:ext cx="0" cy="0"/>
          <a:chOff x="0" y="0"/>
          <a:chExt cx="0" cy="0"/>
        </a:xfrm>
      </p:grpSpPr>
      <p:sp>
        <p:nvSpPr>
          <p:cNvPr id="4" name="TextBox 3"/>
          <p:cNvSpPr txBox="1"/>
          <p:nvPr/>
        </p:nvSpPr>
        <p:spPr>
          <a:xfrm>
            <a:off x="4937485" y="0"/>
            <a:ext cx="8459187" cy="958850"/>
          </a:xfrm>
          <a:prstGeom prst="rect">
            <a:avLst/>
          </a:prstGeom>
        </p:spPr>
        <p:txBody>
          <a:bodyPr lIns="0" tIns="0" rIns="0" bIns="0" rtlCol="0" anchor="t">
            <a:spAutoFit/>
          </a:bodyPr>
          <a:lstStyle/>
          <a:p>
            <a:pPr algn="ctr">
              <a:lnSpc>
                <a:spcPts val="7000"/>
              </a:lnSpc>
            </a:pPr>
            <a:r>
              <a:rPr lang="en-US" sz="5000" b="1" dirty="0">
                <a:solidFill>
                  <a:srgbClr val="000000"/>
                </a:solidFill>
                <a:latin typeface="Times New Roman MT Bold"/>
                <a:ea typeface="Times New Roman MT Bold"/>
                <a:cs typeface="Times New Roman MT Bold"/>
                <a:sym typeface="Times New Roman MT Bold"/>
              </a:rPr>
              <a:t>PLAN DE PRESENTATION</a:t>
            </a:r>
          </a:p>
        </p:txBody>
      </p:sp>
      <p:sp>
        <p:nvSpPr>
          <p:cNvPr id="8" name="TextBox 10"/>
          <p:cNvSpPr txBox="1"/>
          <p:nvPr/>
        </p:nvSpPr>
        <p:spPr>
          <a:xfrm>
            <a:off x="2743200" y="1783080"/>
            <a:ext cx="5943600" cy="731520"/>
          </a:xfrm>
          <a:prstGeom prst="rect">
            <a:avLst/>
          </a:prstGeom>
        </p:spPr>
        <p:txBody>
          <a:bodyPr lIns="0" tIns="0" rIns="0" bIns="0" rtlCol="0" anchor="t">
            <a:spAutoFit/>
          </a:bodyPr>
          <a:lstStyle/>
          <a:p>
            <a:pPr algn="ctr">
              <a:lnSpc>
                <a:spcPts val="4200"/>
              </a:lnSpc>
              <a:spcBef>
                <a:spcPct val="0"/>
              </a:spcBef>
              <a:defRPr sz="3200" b="1">
                <a:solidFill>
                  <a:srgbClr val="1E293B"/>
                </a:solidFill>
                <a:latin typeface="Segoe UI"/>
              </a:defRPr>
            </a:pPr>
            <a:r>
              <a:rPr lang="en-US" sz="3200" b="1" dirty="0">
                <a:solidFill>
                  <a:srgbClr val="1E293B"/>
                </a:solidFill>
                <a:latin typeface="Segoe UI"/>
                <a:ea typeface="Times New Roman MT Bold"/>
                <a:cs typeface="Times New Roman MT Bold"/>
                <a:sym typeface="Times New Roman MT Bold"/>
              </a:rPr>
              <a:t>CONTEXTE</a:t>
            </a:r>
          </a:p>
        </p:txBody>
      </p:sp>
      <p:sp>
        <p:nvSpPr>
          <p:cNvPr id="9" name="TextBox 50"/>
          <p:cNvSpPr txBox="1"/>
          <p:nvPr/>
        </p:nvSpPr>
        <p:spPr>
          <a:xfrm>
            <a:off x="2743200" y="3108960"/>
            <a:ext cx="5943600" cy="731520"/>
          </a:xfrm>
          <a:prstGeom prst="rect">
            <a:avLst/>
          </a:prstGeom>
        </p:spPr>
        <p:txBody>
          <a:bodyPr lIns="0" tIns="0" rIns="0" bIns="0" rtlCol="0" anchor="t">
            <a:spAutoFit/>
          </a:bodyPr>
          <a:lstStyle/>
          <a:p>
            <a:pPr algn="ctr">
              <a:lnSpc>
                <a:spcPts val="4200"/>
              </a:lnSpc>
              <a:spcBef>
                <a:spcPct val="0"/>
              </a:spcBef>
              <a:defRPr sz="3200" b="1">
                <a:solidFill>
                  <a:srgbClr val="1E293B"/>
                </a:solidFill>
                <a:latin typeface="Segoe UI"/>
              </a:defRPr>
            </a:pPr>
            <a:r>
              <a:rPr lang="en-US" sz="3200" b="1" dirty="0">
                <a:solidFill>
                  <a:srgbClr val="1E293B"/>
                </a:solidFill>
                <a:latin typeface="Segoe UI"/>
                <a:ea typeface="Times New Roman MT Bold"/>
                <a:cs typeface="Times New Roman MT Bold"/>
                <a:sym typeface="Times New Roman MT Bold"/>
              </a:rPr>
              <a:t>PROBLEMATIQUE</a:t>
            </a:r>
          </a:p>
        </p:txBody>
      </p:sp>
      <p:sp>
        <p:nvSpPr>
          <p:cNvPr id="10" name="TextBox 11"/>
          <p:cNvSpPr txBox="1"/>
          <p:nvPr/>
        </p:nvSpPr>
        <p:spPr>
          <a:xfrm>
            <a:off x="2743200" y="4434840"/>
            <a:ext cx="5943600" cy="731520"/>
          </a:xfrm>
          <a:prstGeom prst="rect">
            <a:avLst/>
          </a:prstGeom>
        </p:spPr>
        <p:txBody>
          <a:bodyPr lIns="0" tIns="0" rIns="0" bIns="0" rtlCol="0" anchor="t">
            <a:spAutoFit/>
          </a:bodyPr>
          <a:lstStyle/>
          <a:p>
            <a:pPr algn="ctr">
              <a:lnSpc>
                <a:spcPts val="4200"/>
              </a:lnSpc>
              <a:spcBef>
                <a:spcPct val="0"/>
              </a:spcBef>
              <a:defRPr sz="3200" b="1">
                <a:solidFill>
                  <a:srgbClr val="1E293B"/>
                </a:solidFill>
                <a:latin typeface="Segoe UI"/>
              </a:defRPr>
            </a:pPr>
            <a:r>
              <a:rPr lang="en-US" sz="3200" b="1" dirty="0">
                <a:solidFill>
                  <a:srgbClr val="1E293B"/>
                </a:solidFill>
                <a:latin typeface="Segoe UI"/>
                <a:ea typeface="Times New Roman MT Bold"/>
                <a:cs typeface="Times New Roman MT Bold"/>
                <a:sym typeface="Times New Roman MT Bold"/>
              </a:rPr>
              <a:t>OBJECTIFS </a:t>
            </a:r>
          </a:p>
        </p:txBody>
      </p:sp>
      <p:sp>
        <p:nvSpPr>
          <p:cNvPr id="11" name="TextBox 25"/>
          <p:cNvSpPr txBox="1"/>
          <p:nvPr/>
        </p:nvSpPr>
        <p:spPr>
          <a:xfrm>
            <a:off x="2743200" y="7086600"/>
            <a:ext cx="5943600" cy="731520"/>
          </a:xfrm>
          <a:prstGeom prst="rect">
            <a:avLst/>
          </a:prstGeom>
        </p:spPr>
        <p:txBody>
          <a:bodyPr wrap="square" lIns="0" tIns="0" rIns="0" bIns="0" rtlCol="0" anchor="t">
            <a:spAutoFit/>
          </a:bodyPr>
          <a:lstStyle/>
          <a:p>
            <a:pPr algn="ctr">
              <a:lnSpc>
                <a:spcPts val="4200"/>
              </a:lnSpc>
              <a:spcBef>
                <a:spcPct val="0"/>
              </a:spcBef>
              <a:defRPr sz="3200" b="1">
                <a:solidFill>
                  <a:srgbClr val="1E293B"/>
                </a:solidFill>
                <a:latin typeface="Segoe UI"/>
              </a:defRPr>
            </a:pPr>
            <a:r>
              <a:rPr lang="en-US" sz="3200" b="1" dirty="0" smtClean="0">
                <a:solidFill>
                  <a:srgbClr val="1E293B"/>
                </a:solidFill>
                <a:latin typeface="Segoe UI"/>
                <a:ea typeface="Times New Roman MT Bold"/>
                <a:cs typeface="Times New Roman MT Bold"/>
                <a:sym typeface="Times New Roman MT Bold"/>
              </a:rPr>
              <a:t>SOLUTION PROPOSEE</a:t>
            </a:r>
            <a:endParaRPr lang="en-US" sz="3000" b="1" dirty="0">
              <a:solidFill>
                <a:srgbClr val="000000"/>
              </a:solidFill>
              <a:latin typeface="Times New Roman MT Bold"/>
              <a:ea typeface="Times New Roman MT Bold"/>
              <a:cs typeface="Times New Roman MT Bold"/>
              <a:sym typeface="Times New Roman MT Bold"/>
            </a:endParaRPr>
          </a:p>
        </p:txBody>
      </p:sp>
      <p:sp>
        <p:nvSpPr>
          <p:cNvPr id="12" name="TextBox 24"/>
          <p:cNvSpPr txBox="1"/>
          <p:nvPr/>
        </p:nvSpPr>
        <p:spPr>
          <a:xfrm>
            <a:off x="10972800" y="1783080"/>
            <a:ext cx="5943600" cy="731520"/>
          </a:xfrm>
          <a:prstGeom prst="rect">
            <a:avLst/>
          </a:prstGeom>
        </p:spPr>
        <p:txBody>
          <a:bodyPr wrap="square" lIns="0" tIns="0" rIns="0" bIns="0" rtlCol="0" anchor="t">
            <a:spAutoFit/>
          </a:bodyPr>
          <a:lstStyle/>
          <a:p>
            <a:pPr algn="ctr">
              <a:lnSpc>
                <a:spcPts val="4200"/>
              </a:lnSpc>
              <a:spcBef>
                <a:spcPct val="0"/>
              </a:spcBef>
              <a:defRPr sz="3200" b="1">
                <a:solidFill>
                  <a:srgbClr val="1E293B"/>
                </a:solidFill>
                <a:latin typeface="Segoe UI"/>
              </a:defRPr>
            </a:pPr>
            <a:r>
              <a:rPr lang="en-US" sz="3200" b="1" dirty="0" smtClean="0">
                <a:solidFill>
                  <a:srgbClr val="1E293B"/>
                </a:solidFill>
                <a:latin typeface="Segoe UI"/>
                <a:ea typeface="Times New Roman MT Bold"/>
                <a:cs typeface="Times New Roman MT Bold"/>
                <a:sym typeface="Times New Roman MT Bold"/>
              </a:rPr>
              <a:t>ARCHITECTURE DE LA SOLUTION</a:t>
            </a:r>
            <a:endParaRPr lang="en-US" sz="3000" b="1" dirty="0">
              <a:solidFill>
                <a:srgbClr val="000000"/>
              </a:solidFill>
              <a:latin typeface="Times New Roman MT Bold"/>
              <a:ea typeface="Times New Roman MT Bold"/>
              <a:cs typeface="Times New Roman MT Bold"/>
              <a:sym typeface="Times New Roman MT Bold"/>
            </a:endParaRPr>
          </a:p>
        </p:txBody>
      </p:sp>
      <p:sp>
        <p:nvSpPr>
          <p:cNvPr id="13" name="TextBox 26"/>
          <p:cNvSpPr txBox="1"/>
          <p:nvPr/>
        </p:nvSpPr>
        <p:spPr>
          <a:xfrm>
            <a:off x="10972800" y="3108960"/>
            <a:ext cx="5943600" cy="731520"/>
          </a:xfrm>
          <a:prstGeom prst="rect">
            <a:avLst/>
          </a:prstGeom>
        </p:spPr>
        <p:txBody>
          <a:bodyPr lIns="0" tIns="0" rIns="0" bIns="0" rtlCol="0" anchor="t">
            <a:spAutoFit/>
          </a:bodyPr>
          <a:lstStyle/>
          <a:p>
            <a:pPr algn="ctr">
              <a:lnSpc>
                <a:spcPts val="4200"/>
              </a:lnSpc>
              <a:spcBef>
                <a:spcPct val="0"/>
              </a:spcBef>
              <a:defRPr sz="3200" b="1">
                <a:solidFill>
                  <a:srgbClr val="1E293B"/>
                </a:solidFill>
                <a:latin typeface="Segoe UI"/>
              </a:defRPr>
            </a:pPr>
            <a:r>
              <a:rPr lang="en-US" sz="3200" b="1" dirty="0">
                <a:solidFill>
                  <a:srgbClr val="1E293B"/>
                </a:solidFill>
                <a:latin typeface="Segoe UI"/>
                <a:ea typeface="Times New Roman MT Bold"/>
                <a:cs typeface="Times New Roman MT Bold"/>
                <a:sym typeface="Times New Roman MT Bold"/>
              </a:rPr>
              <a:t>MÉTHODOLOGIE DE MISE EN ŒUVRE</a:t>
            </a:r>
          </a:p>
        </p:txBody>
      </p:sp>
      <p:sp>
        <p:nvSpPr>
          <p:cNvPr id="14" name="TextBox 27"/>
          <p:cNvSpPr txBox="1"/>
          <p:nvPr/>
        </p:nvSpPr>
        <p:spPr>
          <a:xfrm>
            <a:off x="10972800" y="4434840"/>
            <a:ext cx="5943600" cy="731520"/>
          </a:xfrm>
          <a:prstGeom prst="rect">
            <a:avLst/>
          </a:prstGeom>
        </p:spPr>
        <p:txBody>
          <a:bodyPr wrap="square" lIns="0" tIns="0" rIns="0" bIns="0" rtlCol="0" anchor="t">
            <a:spAutoFit/>
          </a:bodyPr>
          <a:lstStyle/>
          <a:p>
            <a:pPr algn="ctr">
              <a:lnSpc>
                <a:spcPts val="4200"/>
              </a:lnSpc>
              <a:spcBef>
                <a:spcPct val="0"/>
              </a:spcBef>
              <a:defRPr sz="3200" b="1">
                <a:solidFill>
                  <a:srgbClr val="1E293B"/>
                </a:solidFill>
                <a:latin typeface="Segoe UI"/>
              </a:defRPr>
            </a:pPr>
            <a:r>
              <a:rPr lang="en-US" sz="3200" b="1" dirty="0">
                <a:solidFill>
                  <a:srgbClr val="1E293B"/>
                </a:solidFill>
                <a:latin typeface="Segoe UI"/>
                <a:ea typeface="Times New Roman MT Bold"/>
                <a:cs typeface="Times New Roman MT Bold"/>
                <a:sym typeface="Times New Roman MT Bold"/>
              </a:rPr>
              <a:t>RÉSULTATS OBTENUS</a:t>
            </a:r>
          </a:p>
        </p:txBody>
      </p:sp>
      <p:sp>
        <p:nvSpPr>
          <p:cNvPr id="15" name="TextBox 41"/>
          <p:cNvSpPr txBox="1"/>
          <p:nvPr/>
        </p:nvSpPr>
        <p:spPr>
          <a:xfrm>
            <a:off x="10972800" y="5760719"/>
            <a:ext cx="5943600" cy="731520"/>
          </a:xfrm>
          <a:prstGeom prst="rect">
            <a:avLst/>
          </a:prstGeom>
        </p:spPr>
        <p:txBody>
          <a:bodyPr lIns="0" tIns="0" rIns="0" bIns="0" rtlCol="0" anchor="t">
            <a:spAutoFit/>
          </a:bodyPr>
          <a:lstStyle/>
          <a:p>
            <a:pPr algn="ctr">
              <a:lnSpc>
                <a:spcPts val="4200"/>
              </a:lnSpc>
              <a:spcBef>
                <a:spcPct val="0"/>
              </a:spcBef>
              <a:defRPr sz="3200" b="1">
                <a:solidFill>
                  <a:srgbClr val="1E293B"/>
                </a:solidFill>
                <a:latin typeface="Segoe UI"/>
              </a:defRPr>
            </a:pPr>
            <a:r>
              <a:rPr lang="en-US" sz="3200" b="1" dirty="0">
                <a:solidFill>
                  <a:srgbClr val="1E293B"/>
                </a:solidFill>
                <a:latin typeface="Segoe UI"/>
                <a:ea typeface="Times New Roman MT Bold"/>
                <a:cs typeface="Times New Roman MT Bold"/>
                <a:sym typeface="Times New Roman MT Bold"/>
              </a:rPr>
              <a:t>LIMITES</a:t>
            </a:r>
          </a:p>
        </p:txBody>
      </p:sp>
      <p:sp>
        <p:nvSpPr>
          <p:cNvPr id="16" name="TextBox 40"/>
          <p:cNvSpPr txBox="1"/>
          <p:nvPr/>
        </p:nvSpPr>
        <p:spPr>
          <a:xfrm>
            <a:off x="10972800" y="7086600"/>
            <a:ext cx="5943600" cy="731520"/>
          </a:xfrm>
          <a:prstGeom prst="rect">
            <a:avLst/>
          </a:prstGeom>
        </p:spPr>
        <p:txBody>
          <a:bodyPr lIns="0" tIns="0" rIns="0" bIns="0" rtlCol="0" anchor="t">
            <a:spAutoFit/>
          </a:bodyPr>
          <a:lstStyle/>
          <a:p>
            <a:pPr algn="ctr">
              <a:lnSpc>
                <a:spcPts val="4200"/>
              </a:lnSpc>
              <a:spcBef>
                <a:spcPct val="0"/>
              </a:spcBef>
              <a:defRPr sz="3200" b="1">
                <a:solidFill>
                  <a:srgbClr val="1E293B"/>
                </a:solidFill>
                <a:latin typeface="Segoe UI"/>
              </a:defRPr>
            </a:pPr>
            <a:r>
              <a:rPr lang="en-US" sz="3200" b="1" dirty="0">
                <a:solidFill>
                  <a:srgbClr val="1E293B"/>
                </a:solidFill>
                <a:latin typeface="Segoe UI"/>
                <a:ea typeface="Times New Roman MT Bold"/>
                <a:cs typeface="Times New Roman MT Bold"/>
                <a:sym typeface="Times New Roman MT Bold"/>
              </a:rPr>
              <a:t>PERSPECTIVES</a:t>
            </a:r>
          </a:p>
        </p:txBody>
      </p:sp>
      <p:sp>
        <p:nvSpPr>
          <p:cNvPr id="17" name="TextBox 42"/>
          <p:cNvSpPr txBox="1"/>
          <p:nvPr/>
        </p:nvSpPr>
        <p:spPr>
          <a:xfrm>
            <a:off x="10972800" y="8412480"/>
            <a:ext cx="5943600" cy="731520"/>
          </a:xfrm>
          <a:prstGeom prst="rect">
            <a:avLst/>
          </a:prstGeom>
        </p:spPr>
        <p:txBody>
          <a:bodyPr lIns="0" tIns="0" rIns="0" bIns="0" rtlCol="0" anchor="t">
            <a:spAutoFit/>
          </a:bodyPr>
          <a:lstStyle/>
          <a:p>
            <a:pPr algn="ctr">
              <a:lnSpc>
                <a:spcPts val="4200"/>
              </a:lnSpc>
              <a:spcBef>
                <a:spcPct val="0"/>
              </a:spcBef>
              <a:defRPr sz="3200" b="1">
                <a:solidFill>
                  <a:srgbClr val="1E293B"/>
                </a:solidFill>
                <a:latin typeface="Segoe UI"/>
              </a:defRPr>
            </a:pPr>
            <a:r>
              <a:rPr lang="en-US" sz="3200" b="1" dirty="0">
                <a:solidFill>
                  <a:srgbClr val="1E293B"/>
                </a:solidFill>
                <a:latin typeface="Segoe UI"/>
                <a:ea typeface="Times New Roman MT Bold"/>
                <a:cs typeface="Times New Roman MT Bold"/>
                <a:sym typeface="Times New Roman MT Bold"/>
              </a:rPr>
              <a:t>CONCLUSION</a:t>
            </a:r>
          </a:p>
        </p:txBody>
      </p:sp>
      <p:sp>
        <p:nvSpPr>
          <p:cNvPr id="18" name="TextBox 11"/>
          <p:cNvSpPr txBox="1"/>
          <p:nvPr/>
        </p:nvSpPr>
        <p:spPr>
          <a:xfrm>
            <a:off x="2743200" y="5760719"/>
            <a:ext cx="5943600" cy="731520"/>
          </a:xfrm>
          <a:prstGeom prst="rect">
            <a:avLst/>
          </a:prstGeom>
        </p:spPr>
        <p:txBody>
          <a:bodyPr wrap="square" lIns="0" tIns="0" rIns="0" bIns="0" rtlCol="0" anchor="t">
            <a:spAutoFit/>
          </a:bodyPr>
          <a:lstStyle/>
          <a:p>
            <a:pPr algn="ctr">
              <a:lnSpc>
                <a:spcPts val="4200"/>
              </a:lnSpc>
              <a:spcBef>
                <a:spcPct val="0"/>
              </a:spcBef>
              <a:defRPr sz="3200" b="1">
                <a:solidFill>
                  <a:srgbClr val="1E293B"/>
                </a:solidFill>
                <a:latin typeface="Segoe UI"/>
              </a:defRPr>
            </a:pPr>
            <a:r>
              <a:rPr lang="en-US" sz="3200" b="1" dirty="0" smtClean="0">
                <a:solidFill>
                  <a:srgbClr val="1E293B"/>
                </a:solidFill>
                <a:latin typeface="Segoe UI" panose="02020603050405020304" pitchFamily="18" charset="0"/>
                <a:cs typeface="Times New Roman" panose="02020603050405020304" pitchFamily="18" charset="0"/>
              </a:rPr>
              <a:t>ANALYSE DE L'EXISTANT</a:t>
            </a:r>
            <a:r>
              <a:rPr lang="en-US" sz="3200" b="1" dirty="0" smtClean="0">
                <a:solidFill>
                  <a:srgbClr val="1E293B"/>
                </a:solidFill>
                <a:latin typeface="Segoe UI" panose="02020603050405020304" pitchFamily="18" charset="0"/>
                <a:ea typeface="Times New Roman MT Bold"/>
                <a:cs typeface="Times New Roman" panose="02020603050405020304" pitchFamily="18" charset="0"/>
                <a:sym typeface="Times New Roman MT Bold"/>
              </a:rPr>
              <a:t> </a:t>
            </a:r>
            <a:endParaRPr lang="en-US" sz="3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p:txBody>
      </p:sp>
      <p:sp>
        <p:nvSpPr>
          <p:cNvPr id="20" name="TextBox 25"/>
          <p:cNvSpPr txBox="1"/>
          <p:nvPr/>
        </p:nvSpPr>
        <p:spPr>
          <a:xfrm>
            <a:off x="2743200" y="8412480"/>
            <a:ext cx="5943600" cy="731520"/>
          </a:xfrm>
          <a:prstGeom prst="rect">
            <a:avLst/>
          </a:prstGeom>
        </p:spPr>
        <p:txBody>
          <a:bodyPr wrap="square" lIns="0" tIns="0" rIns="0" bIns="0" rtlCol="0" anchor="t">
            <a:spAutoFit/>
          </a:bodyPr>
          <a:lstStyle/>
          <a:p>
            <a:pPr algn="ctr">
              <a:lnSpc>
                <a:spcPts val="4200"/>
              </a:lnSpc>
              <a:spcBef>
                <a:spcPct val="0"/>
              </a:spcBef>
              <a:defRPr sz="3200" b="1">
                <a:solidFill>
                  <a:srgbClr val="1E293B"/>
                </a:solidFill>
                <a:latin typeface="Segoe UI"/>
              </a:defRPr>
            </a:pPr>
            <a:r>
              <a:rPr lang="en-US" sz="3200" b="1" dirty="0" smtClean="0">
                <a:solidFill>
                  <a:srgbClr val="1E293B"/>
                </a:solidFill>
                <a:latin typeface="Segoe UI" panose="02020603050405020304" pitchFamily="18" charset="0"/>
                <a:cs typeface="Times New Roman" panose="02020603050405020304" pitchFamily="18" charset="0"/>
              </a:rPr>
              <a:t>CONCEPTION DE LA SOLUTION</a:t>
            </a:r>
            <a:endParaRPr lang="en-US" sz="3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p:txBody>
      </p:sp>
      <p:sp>
        <p:nvSpPr>
          <p:cNvPr id="23" name="Rounded Rectangle 22"/>
          <p:cNvSpPr/>
          <p:nvPr/>
        </p:nvSpPr>
        <p:spPr>
          <a:xfrm>
            <a:off x="1783080" y="1783080"/>
            <a:ext cx="822960" cy="731520"/>
          </a:xfrm>
          <a:prstGeom prst="round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Segoe UI"/>
              </a:defRPr>
            </a:pPr>
            <a:r>
              <a:t>01</a:t>
            </a:r>
          </a:p>
        </p:txBody>
      </p:sp>
      <p:sp>
        <p:nvSpPr>
          <p:cNvPr id="25" name="Rounded Rectangle 24"/>
          <p:cNvSpPr/>
          <p:nvPr/>
        </p:nvSpPr>
        <p:spPr>
          <a:xfrm>
            <a:off x="1783080" y="3108960"/>
            <a:ext cx="822960" cy="731520"/>
          </a:xfrm>
          <a:prstGeom prst="round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Segoe UI"/>
              </a:defRPr>
            </a:pPr>
            <a:r>
              <a:t>02</a:t>
            </a:r>
          </a:p>
        </p:txBody>
      </p:sp>
      <p:sp>
        <p:nvSpPr>
          <p:cNvPr id="27" name="Rounded Rectangle 26"/>
          <p:cNvSpPr/>
          <p:nvPr/>
        </p:nvSpPr>
        <p:spPr>
          <a:xfrm>
            <a:off x="1783080" y="4434840"/>
            <a:ext cx="822960" cy="731520"/>
          </a:xfrm>
          <a:prstGeom prst="round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Segoe UI"/>
              </a:defRPr>
            </a:pPr>
            <a:r>
              <a:t>03</a:t>
            </a:r>
          </a:p>
        </p:txBody>
      </p:sp>
      <p:sp>
        <p:nvSpPr>
          <p:cNvPr id="29" name="Rounded Rectangle 28"/>
          <p:cNvSpPr/>
          <p:nvPr/>
        </p:nvSpPr>
        <p:spPr>
          <a:xfrm>
            <a:off x="1783080" y="5760719"/>
            <a:ext cx="822960" cy="731520"/>
          </a:xfrm>
          <a:prstGeom prst="round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Segoe UI"/>
              </a:defRPr>
            </a:pPr>
            <a:r>
              <a:t>04</a:t>
            </a:r>
          </a:p>
        </p:txBody>
      </p:sp>
      <p:sp>
        <p:nvSpPr>
          <p:cNvPr id="31" name="Rounded Rectangle 30"/>
          <p:cNvSpPr/>
          <p:nvPr/>
        </p:nvSpPr>
        <p:spPr>
          <a:xfrm>
            <a:off x="1783080" y="7086600"/>
            <a:ext cx="822960" cy="731520"/>
          </a:xfrm>
          <a:prstGeom prst="round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Segoe UI"/>
              </a:defRPr>
            </a:pPr>
            <a:r>
              <a:t>05</a:t>
            </a:r>
          </a:p>
        </p:txBody>
      </p:sp>
      <p:sp>
        <p:nvSpPr>
          <p:cNvPr id="33" name="Rounded Rectangle 32"/>
          <p:cNvSpPr/>
          <p:nvPr/>
        </p:nvSpPr>
        <p:spPr>
          <a:xfrm>
            <a:off x="1783080" y="8412480"/>
            <a:ext cx="822960" cy="731520"/>
          </a:xfrm>
          <a:prstGeom prst="round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Segoe UI"/>
              </a:defRPr>
            </a:pPr>
            <a:r>
              <a:t>06</a:t>
            </a:r>
          </a:p>
        </p:txBody>
      </p:sp>
      <p:sp>
        <p:nvSpPr>
          <p:cNvPr id="35" name="Rounded Rectangle 34"/>
          <p:cNvSpPr/>
          <p:nvPr/>
        </p:nvSpPr>
        <p:spPr>
          <a:xfrm>
            <a:off x="10012680" y="1783080"/>
            <a:ext cx="822960" cy="731520"/>
          </a:xfrm>
          <a:prstGeom prst="round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Segoe UI"/>
              </a:defRPr>
            </a:pPr>
            <a:r>
              <a:t>07</a:t>
            </a:r>
          </a:p>
        </p:txBody>
      </p:sp>
      <p:sp>
        <p:nvSpPr>
          <p:cNvPr id="37" name="Rounded Rectangle 36"/>
          <p:cNvSpPr/>
          <p:nvPr/>
        </p:nvSpPr>
        <p:spPr>
          <a:xfrm>
            <a:off x="10012680" y="3108960"/>
            <a:ext cx="822960" cy="731520"/>
          </a:xfrm>
          <a:prstGeom prst="round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Segoe UI"/>
              </a:defRPr>
            </a:pPr>
            <a:r>
              <a:t>08</a:t>
            </a:r>
          </a:p>
        </p:txBody>
      </p:sp>
      <p:sp>
        <p:nvSpPr>
          <p:cNvPr id="39" name="Rounded Rectangle 38"/>
          <p:cNvSpPr/>
          <p:nvPr/>
        </p:nvSpPr>
        <p:spPr>
          <a:xfrm>
            <a:off x="10012680" y="4434840"/>
            <a:ext cx="822960" cy="731520"/>
          </a:xfrm>
          <a:prstGeom prst="round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Segoe UI"/>
              </a:defRPr>
            </a:pPr>
            <a:r>
              <a:t>09</a:t>
            </a:r>
          </a:p>
        </p:txBody>
      </p:sp>
      <p:sp>
        <p:nvSpPr>
          <p:cNvPr id="41" name="Rounded Rectangle 40"/>
          <p:cNvSpPr/>
          <p:nvPr/>
        </p:nvSpPr>
        <p:spPr>
          <a:xfrm>
            <a:off x="10012680" y="5760719"/>
            <a:ext cx="822960" cy="731520"/>
          </a:xfrm>
          <a:prstGeom prst="round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Segoe UI"/>
              </a:defRPr>
            </a:pPr>
            <a:r>
              <a:t>10</a:t>
            </a:r>
          </a:p>
        </p:txBody>
      </p:sp>
      <p:sp>
        <p:nvSpPr>
          <p:cNvPr id="43" name="Rounded Rectangle 42"/>
          <p:cNvSpPr/>
          <p:nvPr/>
        </p:nvSpPr>
        <p:spPr>
          <a:xfrm>
            <a:off x="10012680" y="7086600"/>
            <a:ext cx="822960" cy="731520"/>
          </a:xfrm>
          <a:prstGeom prst="round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Segoe UI"/>
              </a:defRPr>
            </a:pPr>
            <a:r>
              <a:t>11</a:t>
            </a:r>
          </a:p>
        </p:txBody>
      </p:sp>
      <p:sp>
        <p:nvSpPr>
          <p:cNvPr id="45" name="Rounded Rectangle 44"/>
          <p:cNvSpPr/>
          <p:nvPr/>
        </p:nvSpPr>
        <p:spPr>
          <a:xfrm>
            <a:off x="10012680" y="8412480"/>
            <a:ext cx="822960" cy="731520"/>
          </a:xfrm>
          <a:prstGeom prst="round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800" b="1">
                <a:solidFill>
                  <a:srgbClr val="FFFFFF"/>
                </a:solidFill>
                <a:latin typeface="Segoe UI"/>
              </a:defRPr>
            </a:pPr>
            <a:r>
              <a:t>12</a:t>
            </a:r>
          </a:p>
        </p:txBody>
      </p:sp>
    </p:spTree>
    <p:extLst>
      <p:ext uri="{BB962C8B-B14F-4D97-AF65-F5344CB8AC3E}">
        <p14:creationId xmlns:p14="http://schemas.microsoft.com/office/powerpoint/2010/main" val="3754195223"/>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8" name="Rounded Rectangle 7"/>
          <p:cNvSpPr/>
          <p:nvPr/>
        </p:nvSpPr>
        <p:spPr>
          <a:xfrm>
            <a:off x="1097280" y="1223490"/>
            <a:ext cx="16093440" cy="6814833"/>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97280" y="-113030"/>
            <a:ext cx="16093440" cy="132461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457200"/>
            <a:ext cx="109728" cy="9372600"/>
          </a:xfrm>
          <a:prstGeom prst="rect">
            <a:avLst/>
          </a:prstGeom>
          <a:solidFill>
            <a:srgbClr val="FFFFF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1E293B"/>
                </a:solidFill>
                <a:latin typeface="Segoe UI"/>
              </a:defRPr>
            </a:pPr>
          </a:p>
        </p:txBody>
      </p:sp>
      <p:nvGrpSpPr>
        <p:cNvPr id="1" name=""/>
        <p:cNvGrpSpPr/>
        <p:nvPr/>
      </p:nvGrpSpPr>
      <p:grpSpPr>
        <a:xfrm>
          <a:off x="0" y="0"/>
          <a:ext cx="0" cy="0"/>
          <a:chOff x="0" y="0"/>
          <a:chExt cx="0" cy="0"/>
        </a:xfrm>
      </p:grpSpPr>
      <p:sp>
        <p:nvSpPr>
          <p:cNvPr id="4" name="TextBox 7"/>
          <p:cNvSpPr txBox="1"/>
          <p:nvPr/>
        </p:nvSpPr>
        <p:spPr>
          <a:xfrm>
            <a:off x="1371600" y="69850"/>
            <a:ext cx="15544800" cy="958850"/>
          </a:xfrm>
          <a:prstGeom prst="rect">
            <a:avLst/>
          </a:prstGeom>
        </p:spPr>
        <p:txBody>
          <a:bodyPr lIns="0" tIns="0" rIns="0" bIns="0" rtlCol="0" anchor="t">
            <a:spAutoFit/>
          </a:bodyPr>
          <a:lstStyle/>
          <a:p>
            <a:pPr marL="0" lvl="0" indent="0" algn="ctr">
              <a:lnSpc>
                <a:spcPts val="7000"/>
              </a:lnSpc>
              <a:spcBef>
                <a:spcPct val="0"/>
              </a:spcBef>
              <a:defRPr sz="3200">
                <a:solidFill>
                  <a:srgbClr val="1E293B"/>
                </a:solidFill>
                <a:latin typeface="Segoe UI"/>
              </a:defRPr>
            </a:pPr>
            <a:r>
              <a:rPr lang="en-US" sz="3200" dirty="0">
                <a:solidFill>
                  <a:srgbClr val="1E293B"/>
                </a:solidFill>
                <a:latin typeface="Segoe UI"/>
                <a:ea typeface="Times New Roman MT Bold"/>
                <a:cs typeface="Times New Roman MT Bold"/>
                <a:sym typeface="Times New Roman MT Bold"/>
              </a:rPr>
              <a:t>CONTEXTE</a:t>
            </a:r>
          </a:p>
        </p:txBody>
      </p:sp>
      <p:sp>
        <p:nvSpPr>
          <p:cNvPr id="5" name="TextBox 8"/>
          <p:cNvSpPr txBox="1"/>
          <p:nvPr/>
        </p:nvSpPr>
        <p:spPr>
          <a:xfrm>
            <a:off x="1371600" y="1406370"/>
            <a:ext cx="15544800" cy="6449073"/>
          </a:xfrm>
          <a:prstGeom prst="rect">
            <a:avLst/>
          </a:prstGeom>
        </p:spPr>
        <p:txBody>
          <a:bodyPr lIns="0" tIns="0" rIns="0" bIns="0" rtlCol="0" anchor="t">
            <a:spAutoFit/>
          </a:bodyPr>
          <a:lstStyle/>
          <a:p>
            <a:pPr algn="just">
              <a:lnSpc>
                <a:spcPts val="4559"/>
              </a:lnSpc>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Avec le développement du numérique, le secteur immobilier connaît une véritable transformation. Aujourd'hui, les utilisateurs souhaitent pouvoir rechercher un logement rapidement, comparer plusieurs offres et effectuer leurs démarches directement depuis leur téléphone. Cependant, dans de nombreuses structures, la gestion des annonces reste encore traditionnelle. Les informations sont souvent dispersées entre les réseaux sociaux, les sites d'annonces, les appels téléphoniques ou les échanges via WhatsApp. Cette organisation rend la recherche de logements plus longue, limite la visibilité des offres et complique la mise en relation entre les propriétaires et les personnes à la recherche d'un logement. C'est pour répondre à ces difficultés qu'est né le projet </a:t>
            </a:r>
            <a:r>
              <a:rPr lang="fr-FR" sz="3200" dirty="0" err="1">
                <a:solidFill>
                  <a:srgbClr val="1E293B"/>
                </a:solidFill>
                <a:latin typeface="Segoe UI" panose="02020603050405020304" pitchFamily="18" charset="0"/>
                <a:cs typeface="Times New Roman" panose="02020603050405020304" pitchFamily="18" charset="0"/>
              </a:rPr>
              <a:t>AttouHome</a:t>
            </a:r>
            <a:r>
              <a:rPr lang="fr-FR" sz="3200" dirty="0">
                <a:solidFill>
                  <a:srgbClr val="1E293B"/>
                </a:solidFill>
                <a:latin typeface="Segoe UI" panose="02020603050405020304" pitchFamily="18" charset="0"/>
                <a:cs typeface="Times New Roman" panose="02020603050405020304" pitchFamily="18" charset="0"/>
              </a:rPr>
              <a:t>, une plateforme web et mobile destinée à centraliser les annonces immobilières et à faciliter les échanges entre les différents acteurs du secteur.</a:t>
            </a:r>
            <a:endParaRPr lang="en-US" sz="3507" dirty="0">
              <a:solidFill>
                <a:srgbClr val="000000"/>
              </a:solidFill>
              <a:latin typeface="Times New Roman MT"/>
              <a:ea typeface="Times New Roman MT"/>
              <a:cs typeface="Times New Roman MT"/>
              <a:sym typeface="Times New Roman MT"/>
            </a:endParaRPr>
          </a:p>
        </p:txBody>
      </p:sp>
    </p:spTree>
    <p:extLst>
      <p:ext uri="{BB962C8B-B14F-4D97-AF65-F5344CB8AC3E}">
        <p14:creationId xmlns:p14="http://schemas.microsoft.com/office/powerpoint/2010/main" val="3836352294"/>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6" name="Rectangle 5"/>
          <p:cNvSpPr/>
          <p:nvPr/>
        </p:nvSpPr>
        <p:spPr>
          <a:xfrm>
            <a:off x="365760" y="457200"/>
            <a:ext cx="109728" cy="9372600"/>
          </a:xfrm>
          <a:prstGeom prst="rect">
            <a:avLst/>
          </a:prstGeom>
          <a:solidFill>
            <a:srgbClr val="FFFFF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1E293B"/>
                </a:solidFill>
                <a:latin typeface="Segoe UI"/>
              </a:defRPr>
            </a:pPr>
          </a:p>
        </p:txBody>
      </p:sp>
      <p:nvGrpSpPr>
        <p:cNvPr id="1" name=""/>
        <p:cNvGrpSpPr/>
        <p:nvPr/>
      </p:nvGrpSpPr>
      <p:grpSpPr>
        <a:xfrm>
          <a:off x="0" y="0"/>
          <a:ext cx="0" cy="0"/>
          <a:chOff x="0" y="0"/>
          <a:chExt cx="0" cy="0"/>
        </a:xfrm>
      </p:grpSpPr>
      <p:sp>
        <p:nvSpPr>
          <p:cNvPr id="4" name="TextBox 7"/>
          <p:cNvSpPr txBox="1"/>
          <p:nvPr/>
        </p:nvSpPr>
        <p:spPr>
          <a:xfrm>
            <a:off x="-1981200" y="5143500"/>
            <a:ext cx="9880876" cy="892175"/>
          </a:xfrm>
          <a:prstGeom prst="rect">
            <a:avLst/>
          </a:prstGeom>
        </p:spPr>
        <p:txBody>
          <a:bodyPr lIns="0" tIns="0" rIns="0" bIns="0" rtlCol="0" anchor="t">
            <a:spAutoFit/>
          </a:bodyPr>
          <a:lstStyle/>
          <a:p>
            <a:pPr marL="0" lvl="0" indent="0" algn="ctr">
              <a:lnSpc>
                <a:spcPts val="7000"/>
              </a:lnSpc>
              <a:spcBef>
                <a:spcPct val="0"/>
              </a:spcBef>
              <a:defRPr sz="3200">
                <a:solidFill>
                  <a:srgbClr val="1E293B"/>
                </a:solidFill>
                <a:latin typeface="Segoe UI"/>
              </a:defRPr>
            </a:pPr>
            <a:r>
              <a:rPr lang="en-US" sz="3200" dirty="0">
                <a:solidFill>
                  <a:srgbClr val="1E293B"/>
                </a:solidFill>
                <a:latin typeface="Segoe UI"/>
                <a:ea typeface="Times New Roman Bold"/>
                <a:cs typeface="Times New Roman Bold"/>
                <a:sym typeface="Times New Roman Bold"/>
              </a:rPr>
              <a:t>PROBLEMATIQUE</a:t>
            </a:r>
          </a:p>
        </p:txBody>
      </p:sp>
      <p:sp>
        <p:nvSpPr>
          <p:cNvPr id="5" name="Rectangle 4"/>
          <p:cNvSpPr/>
          <p:nvPr/>
        </p:nvSpPr>
        <p:spPr>
          <a:xfrm>
            <a:off x="7067550" y="4373681"/>
            <a:ext cx="10915650" cy="3323987"/>
          </a:xfrm>
          <a:prstGeom prst="rect">
            <a:avLst/>
          </a:prstGeom>
          <a:solidFill>
            <a:srgbClr val="FFFFFF"/>
          </a:solidFill>
          <a:ln w="25400">
            <a:solidFill>
              <a:srgbClr val="22C55E"/>
            </a:solidFill>
          </a:ln>
        </p:spPr>
        <p:txBody>
          <a:bodyPr wrap="square">
            <a:spAutoFit/>
          </a:bodyPr>
          <a:lstStyle/>
          <a:p>
            <a:pPr marL="270510" marR="269240" algn="just">
              <a:lnSpc>
                <a:spcPct val="150000"/>
              </a:lnSpc>
              <a:spcAft>
                <a:spcPts val="800"/>
              </a:spcAft>
              <a:defRPr sz="3200">
                <a:solidFill>
                  <a:srgbClr val="1E293B"/>
                </a:solidFill>
                <a:latin typeface="Segoe UI"/>
              </a:defRPr>
            </a:pPr>
            <a:r>
              <a:rPr lang="fr-FR" sz="3200" dirty="0">
                <a:solidFill>
                  <a:srgbClr val="1E293B"/>
                </a:solidFill>
                <a:latin typeface="Segoe UI" panose="02020603050405020304" pitchFamily="18" charset="0"/>
                <a:ea typeface="Calibri" panose="020F0502020204030204" pitchFamily="34" charset="0"/>
                <a:cs typeface="Times New Roman" panose="02020603050405020304" pitchFamily="18" charset="0"/>
              </a:rPr>
              <a:t>Quelle solution pourrait être mise en place pour faciliter la recherche de logements à louer, centraliser les offres disponibles et améliorer la gestion des annonces immobilières ?</a:t>
            </a:r>
            <a:endParaRPr lang="en-US" sz="35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64936610"/>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16" name="Rectangle 15"/>
          <p:cNvSpPr/>
          <p:nvPr/>
        </p:nvSpPr>
        <p:spPr>
          <a:xfrm>
            <a:off x="365760" y="457200"/>
            <a:ext cx="109728" cy="9372600"/>
          </a:xfrm>
          <a:prstGeom prst="rect">
            <a:avLst/>
          </a:prstGeom>
          <a:solidFill>
            <a:srgbClr val="FFFFF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1E293B"/>
                </a:solidFill>
                <a:latin typeface="Segoe UI"/>
              </a:defRPr>
            </a:pPr>
          </a:p>
        </p:txBody>
      </p:sp>
      <p:nvGrpSpPr>
        <p:cNvPr id="1" name=""/>
        <p:cNvGrpSpPr/>
        <p:nvPr/>
      </p:nvGrpSpPr>
      <p:grpSpPr>
        <a:xfrm>
          <a:off x="0" y="0"/>
          <a:ext cx="0" cy="0"/>
          <a:chOff x="0" y="0"/>
          <a:chExt cx="0" cy="0"/>
        </a:xfrm>
      </p:grpSpPr>
      <p:sp>
        <p:nvSpPr>
          <p:cNvPr id="4" name="TextBox 3"/>
          <p:cNvSpPr txBox="1"/>
          <p:nvPr/>
        </p:nvSpPr>
        <p:spPr>
          <a:xfrm>
            <a:off x="7413785" y="304485"/>
            <a:ext cx="3654265" cy="823559"/>
          </a:xfrm>
          <a:prstGeom prst="rect">
            <a:avLst/>
          </a:prstGeom>
        </p:spPr>
        <p:txBody>
          <a:bodyPr wrap="square" lIns="0" tIns="0" rIns="0" bIns="0" rtlCol="0" anchor="t">
            <a:spAutoFit/>
          </a:bodyPr>
          <a:lstStyle/>
          <a:p>
            <a:pPr algn="ctr">
              <a:lnSpc>
                <a:spcPts val="7000"/>
              </a:lnSpc>
              <a:spcBef>
                <a:spcPct val="0"/>
              </a:spcBef>
              <a:defRPr sz="3200">
                <a:solidFill>
                  <a:srgbClr val="1E293B"/>
                </a:solidFill>
                <a:latin typeface="Segoe UI"/>
              </a:defRPr>
            </a:pPr>
            <a:r>
              <a:rPr lang="en-US" sz="3200" dirty="0">
                <a:solidFill>
                  <a:srgbClr val="1E293B"/>
                </a:solidFill>
                <a:latin typeface="Segoe UI"/>
                <a:ea typeface="Times New Roman Bold"/>
                <a:cs typeface="Times New Roman Bold"/>
                <a:sym typeface="Times New Roman Bold"/>
              </a:rPr>
              <a:t>OBJECTIFS</a:t>
            </a:r>
          </a:p>
        </p:txBody>
      </p:sp>
      <p:grpSp>
        <p:nvGrpSpPr>
          <p:cNvPr id="6" name="Group 5"/>
          <p:cNvGrpSpPr/>
          <p:nvPr/>
        </p:nvGrpSpPr>
        <p:grpSpPr>
          <a:xfrm>
            <a:off x="1984636" y="1723687"/>
            <a:ext cx="13542689" cy="2550748"/>
            <a:chOff x="0" y="0"/>
            <a:chExt cx="18056919" cy="3400997"/>
          </a:xfrm>
        </p:grpSpPr>
        <p:grpSp>
          <p:nvGrpSpPr>
            <p:cNvPr id="7" name="Group 6"/>
            <p:cNvGrpSpPr/>
            <p:nvPr/>
          </p:nvGrpSpPr>
          <p:grpSpPr>
            <a:xfrm>
              <a:off x="0" y="0"/>
              <a:ext cx="679212" cy="835953"/>
              <a:chOff x="0" y="0"/>
              <a:chExt cx="660400" cy="812800"/>
            </a:xfrm>
          </p:grpSpPr>
          <p:sp>
            <p:nvSpPr>
              <p:cNvPr id="10" name="Freeform 7"/>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chemeClr val="accent1"/>
              </a:solidFill>
            </p:spPr>
            <p:txBody>
              <a:bodyPr/>
              <a:lstStyle/>
              <a:p>
                <a:endParaRPr lang="fr-FR"/>
              </a:p>
            </p:txBody>
          </p:sp>
          <p:sp>
            <p:nvSpPr>
              <p:cNvPr id="11" name="TextBox 8"/>
              <p:cNvSpPr txBox="1"/>
              <p:nvPr/>
            </p:nvSpPr>
            <p:spPr>
              <a:xfrm>
                <a:off x="0" y="69850"/>
                <a:ext cx="660400" cy="742950"/>
              </a:xfrm>
              <a:prstGeom prst="rect">
                <a:avLst/>
              </a:prstGeom>
            </p:spPr>
            <p:txBody>
              <a:bodyPr lIns="50800" tIns="50800" rIns="50800" bIns="50800" rtlCol="0" anchor="ctr"/>
              <a:lstStyle/>
              <a:p>
                <a:pPr algn="ctr">
                  <a:lnSpc>
                    <a:spcPts val="3079"/>
                  </a:lnSpc>
                </a:pPr>
                <a:r>
                  <a:rPr lang="en-US" sz="2199" b="1" dirty="0">
                    <a:solidFill>
                      <a:srgbClr val="000000"/>
                    </a:solidFill>
                    <a:latin typeface="Times New Roman Bold"/>
                    <a:ea typeface="Times New Roman Bold"/>
                    <a:cs typeface="Times New Roman Bold"/>
                    <a:sym typeface="Times New Roman Bold"/>
                  </a:rPr>
                  <a:t>1</a:t>
                </a:r>
              </a:p>
            </p:txBody>
          </p:sp>
        </p:grpSp>
        <p:sp>
          <p:nvSpPr>
            <p:cNvPr id="8" name="TextBox 9"/>
            <p:cNvSpPr txBox="1"/>
            <p:nvPr/>
          </p:nvSpPr>
          <p:spPr>
            <a:xfrm>
              <a:off x="1297885" y="27452"/>
              <a:ext cx="5707933" cy="658813"/>
            </a:xfrm>
            <a:prstGeom prst="rect">
              <a:avLst/>
            </a:prstGeom>
          </p:spPr>
          <p:txBody>
            <a:bodyPr wrap="square" lIns="0" tIns="0" rIns="0" bIns="0" rtlCol="0" anchor="t">
              <a:spAutoFit/>
            </a:bodyPr>
            <a:lstStyle/>
            <a:p>
              <a:pPr algn="ctr">
                <a:lnSpc>
                  <a:spcPts val="4200"/>
                </a:lnSpc>
                <a:spcBef>
                  <a:spcPct val="0"/>
                </a:spcBef>
              </a:pPr>
              <a:r>
                <a:rPr lang="en-US" sz="3000" b="1" dirty="0">
                  <a:solidFill>
                    <a:srgbClr val="000000"/>
                  </a:solidFill>
                  <a:latin typeface="Times New Roman Bold"/>
                  <a:ea typeface="Times New Roman Bold"/>
                  <a:cs typeface="Times New Roman Bold"/>
                  <a:sym typeface="Times New Roman Bold"/>
                </a:rPr>
                <a:t>OBJECTIF GENERALE</a:t>
              </a:r>
            </a:p>
          </p:txBody>
        </p:sp>
        <p:sp>
          <p:nvSpPr>
            <p:cNvPr id="9" name="TextBox 10"/>
            <p:cNvSpPr txBox="1"/>
            <p:nvPr/>
          </p:nvSpPr>
          <p:spPr>
            <a:xfrm>
              <a:off x="1297885" y="938785"/>
              <a:ext cx="16759034" cy="2462212"/>
            </a:xfrm>
            <a:prstGeom prst="rect">
              <a:avLst/>
            </a:prstGeom>
          </p:spPr>
          <p:txBody>
            <a:bodyPr lIns="0" tIns="0" rIns="0" bIns="0" rtlCol="0" anchor="t">
              <a:spAutoFit/>
            </a:bodyPr>
            <a:lstStyle/>
            <a:p>
              <a:r>
                <a:rPr lang="fr-FR" sz="3000" dirty="0">
                  <a:latin typeface="Times New Roman" panose="02020603050405020304" pitchFamily="18" charset="0"/>
                  <a:cs typeface="Times New Roman" panose="02020603050405020304" pitchFamily="18" charset="0"/>
                </a:rPr>
                <a:t>L’objectif général de ce projet est de concevoir et réaliser une application web et mobile permettant de faciliter la recherche de logements à louer et d’améliorer la gestion des annonces immobilières pour la filiale immobilière du groupe ATTOU CORPORATE</a:t>
              </a:r>
              <a:endParaRPr lang="en-US" sz="3000" dirty="0">
                <a:latin typeface="Times New Roman" panose="02020603050405020304" pitchFamily="18" charset="0"/>
                <a:cs typeface="Times New Roman" panose="02020603050405020304" pitchFamily="18" charset="0"/>
              </a:endParaRPr>
            </a:p>
          </p:txBody>
        </p:sp>
      </p:grpSp>
      <p:sp>
        <p:nvSpPr>
          <p:cNvPr id="12" name="TextBox 14"/>
          <p:cNvSpPr txBox="1"/>
          <p:nvPr/>
        </p:nvSpPr>
        <p:spPr>
          <a:xfrm>
            <a:off x="2956279" y="4778526"/>
            <a:ext cx="4753213" cy="542925"/>
          </a:xfrm>
          <a:prstGeom prst="rect">
            <a:avLst/>
          </a:prstGeom>
        </p:spPr>
        <p:txBody>
          <a:bodyPr lIns="0" tIns="0" rIns="0" bIns="0" rtlCol="0" anchor="t">
            <a:spAutoFit/>
          </a:bodyPr>
          <a:lstStyle/>
          <a:p>
            <a:pPr algn="ctr">
              <a:lnSpc>
                <a:spcPts val="4200"/>
              </a:lnSpc>
              <a:spcBef>
                <a:spcPct val="0"/>
              </a:spcBef>
              <a:defRPr sz="3200">
                <a:solidFill>
                  <a:srgbClr val="1E293B"/>
                </a:solidFill>
                <a:latin typeface="Segoe UI"/>
              </a:defRPr>
            </a:pPr>
            <a:r>
              <a:rPr lang="en-US" sz="3200" dirty="0">
                <a:solidFill>
                  <a:srgbClr val="1E293B"/>
                </a:solidFill>
                <a:latin typeface="Segoe UI"/>
                <a:ea typeface="Times New Roman Bold"/>
                <a:cs typeface="Times New Roman Bold"/>
                <a:sym typeface="Times New Roman Bold"/>
              </a:rPr>
              <a:t>OBJECTIFS SPECIFIQUES</a:t>
            </a:r>
          </a:p>
        </p:txBody>
      </p:sp>
      <p:sp>
        <p:nvSpPr>
          <p:cNvPr id="13" name="TextBox 15"/>
          <p:cNvSpPr txBox="1"/>
          <p:nvPr/>
        </p:nvSpPr>
        <p:spPr>
          <a:xfrm>
            <a:off x="2956279" y="5363471"/>
            <a:ext cx="12569276" cy="3770263"/>
          </a:xfrm>
          <a:prstGeom prst="rect">
            <a:avLst/>
          </a:prstGeom>
        </p:spPr>
        <p:txBody>
          <a:bodyPr lIns="0" tIns="0" rIns="0" bIns="0" rtlCol="0" anchor="t">
            <a:spAutoFit/>
          </a:bodyPr>
          <a:lstStyle/>
          <a:p>
            <a:pPr algn="just">
              <a:lnSpc>
                <a:spcPts val="4200"/>
              </a:lnSpc>
              <a:defRPr sz="3200">
                <a:solidFill>
                  <a:srgbClr val="1E293B"/>
                </a:solidFill>
                <a:latin typeface="Segoe UI"/>
              </a:defRPr>
            </a:pPr>
            <a:r>
              <a:rPr lang="en-US" sz="3200" dirty="0">
                <a:solidFill>
                  <a:srgbClr val="1E293B"/>
                </a:solidFill>
                <a:latin typeface="Segoe UI"/>
                <a:ea typeface="Times New Roman"/>
                <a:cs typeface="Times New Roman"/>
                <a:sym typeface="Times New Roman"/>
              </a:rPr>
              <a:t>Pour </a:t>
            </a:r>
            <a:r>
              <a:rPr lang="en-US" sz="3200" dirty="0" err="1">
                <a:solidFill>
                  <a:srgbClr val="1E293B"/>
                </a:solidFill>
                <a:latin typeface="Segoe UI"/>
                <a:ea typeface="Times New Roman"/>
                <a:cs typeface="Times New Roman"/>
                <a:sym typeface="Times New Roman"/>
              </a:rPr>
              <a:t>atteindre</a:t>
            </a:r>
            <a:r>
              <a:rPr lang="en-US" sz="3200" dirty="0">
                <a:solidFill>
                  <a:srgbClr val="1E293B"/>
                </a:solidFill>
                <a:latin typeface="Segoe UI"/>
                <a:ea typeface="Times New Roman"/>
                <a:cs typeface="Times New Roman"/>
                <a:sym typeface="Times New Roman"/>
              </a:rPr>
              <a:t> </a:t>
            </a:r>
            <a:r>
              <a:rPr lang="en-US" sz="3200" dirty="0" err="1">
                <a:solidFill>
                  <a:srgbClr val="1E293B"/>
                </a:solidFill>
                <a:latin typeface="Segoe UI"/>
                <a:ea typeface="Times New Roman"/>
                <a:cs typeface="Times New Roman"/>
                <a:sym typeface="Times New Roman"/>
              </a:rPr>
              <a:t>cet</a:t>
            </a:r>
            <a:r>
              <a:rPr lang="en-US" sz="3200" dirty="0">
                <a:solidFill>
                  <a:srgbClr val="1E293B"/>
                </a:solidFill>
                <a:latin typeface="Segoe UI"/>
                <a:ea typeface="Times New Roman"/>
                <a:cs typeface="Times New Roman"/>
                <a:sym typeface="Times New Roman"/>
              </a:rPr>
              <a:t> </a:t>
            </a:r>
            <a:r>
              <a:rPr lang="en-US" sz="3200" dirty="0" err="1">
                <a:solidFill>
                  <a:srgbClr val="1E293B"/>
                </a:solidFill>
                <a:latin typeface="Segoe UI"/>
                <a:ea typeface="Times New Roman"/>
                <a:cs typeface="Times New Roman"/>
                <a:sym typeface="Times New Roman"/>
              </a:rPr>
              <a:t>objectif</a:t>
            </a:r>
            <a:r>
              <a:rPr lang="en-US" sz="3200" dirty="0">
                <a:solidFill>
                  <a:srgbClr val="1E293B"/>
                </a:solidFill>
                <a:latin typeface="Segoe UI"/>
                <a:ea typeface="Times New Roman"/>
                <a:cs typeface="Times New Roman"/>
                <a:sym typeface="Times New Roman"/>
              </a:rPr>
              <a:t> </a:t>
            </a:r>
            <a:r>
              <a:rPr lang="en-US" sz="3200" dirty="0" err="1">
                <a:solidFill>
                  <a:srgbClr val="1E293B"/>
                </a:solidFill>
                <a:latin typeface="Segoe UI"/>
                <a:ea typeface="Times New Roman"/>
                <a:cs typeface="Times New Roman"/>
                <a:sym typeface="Times New Roman"/>
              </a:rPr>
              <a:t>général</a:t>
            </a:r>
            <a:r>
              <a:rPr lang="en-US" sz="3200" dirty="0">
                <a:solidFill>
                  <a:srgbClr val="1E293B"/>
                </a:solidFill>
                <a:latin typeface="Segoe UI"/>
                <a:ea typeface="Times New Roman"/>
                <a:cs typeface="Times New Roman"/>
                <a:sym typeface="Times New Roman"/>
              </a:rPr>
              <a:t>, </a:t>
            </a:r>
            <a:r>
              <a:rPr lang="en-US" sz="3200" dirty="0" err="1">
                <a:solidFill>
                  <a:srgbClr val="1E293B"/>
                </a:solidFill>
                <a:latin typeface="Segoe UI"/>
                <a:ea typeface="Times New Roman"/>
                <a:cs typeface="Times New Roman"/>
                <a:sym typeface="Times New Roman"/>
              </a:rPr>
              <a:t>plusieurs</a:t>
            </a:r>
            <a:r>
              <a:rPr lang="en-US" sz="3200" dirty="0">
                <a:solidFill>
                  <a:srgbClr val="1E293B"/>
                </a:solidFill>
                <a:latin typeface="Segoe UI"/>
                <a:ea typeface="Times New Roman"/>
                <a:cs typeface="Times New Roman"/>
                <a:sym typeface="Times New Roman"/>
              </a:rPr>
              <a:t> </a:t>
            </a:r>
            <a:r>
              <a:rPr lang="en-US" sz="3200" dirty="0" err="1">
                <a:solidFill>
                  <a:srgbClr val="1E293B"/>
                </a:solidFill>
                <a:latin typeface="Segoe UI"/>
                <a:ea typeface="Times New Roman"/>
                <a:cs typeface="Times New Roman"/>
                <a:sym typeface="Times New Roman"/>
              </a:rPr>
              <a:t>objectifs</a:t>
            </a:r>
            <a:r>
              <a:rPr lang="en-US" sz="3200" dirty="0">
                <a:solidFill>
                  <a:srgbClr val="1E293B"/>
                </a:solidFill>
                <a:latin typeface="Segoe UI"/>
                <a:ea typeface="Times New Roman"/>
                <a:cs typeface="Times New Roman"/>
                <a:sym typeface="Times New Roman"/>
              </a:rPr>
              <a:t> </a:t>
            </a:r>
            <a:r>
              <a:rPr lang="en-US" sz="3200" dirty="0" err="1">
                <a:solidFill>
                  <a:srgbClr val="1E293B"/>
                </a:solidFill>
                <a:latin typeface="Segoe UI"/>
                <a:ea typeface="Times New Roman"/>
                <a:cs typeface="Times New Roman"/>
                <a:sym typeface="Times New Roman"/>
              </a:rPr>
              <a:t>spécifiques</a:t>
            </a:r>
            <a:r>
              <a:rPr lang="en-US" sz="3200" dirty="0">
                <a:solidFill>
                  <a:srgbClr val="1E293B"/>
                </a:solidFill>
                <a:latin typeface="Segoe UI"/>
                <a:ea typeface="Times New Roman"/>
                <a:cs typeface="Times New Roman"/>
                <a:sym typeface="Times New Roman"/>
              </a:rPr>
              <a:t> </a:t>
            </a:r>
            <a:r>
              <a:rPr lang="en-US" sz="3200" dirty="0" err="1">
                <a:solidFill>
                  <a:srgbClr val="1E293B"/>
                </a:solidFill>
                <a:latin typeface="Segoe UI"/>
                <a:ea typeface="Times New Roman"/>
                <a:cs typeface="Times New Roman"/>
                <a:sym typeface="Times New Roman"/>
              </a:rPr>
              <a:t>sont</a:t>
            </a:r>
            <a:r>
              <a:rPr lang="en-US" sz="3200" dirty="0">
                <a:solidFill>
                  <a:srgbClr val="1E293B"/>
                </a:solidFill>
                <a:latin typeface="Segoe UI"/>
                <a:ea typeface="Times New Roman"/>
                <a:cs typeface="Times New Roman"/>
                <a:sym typeface="Times New Roman"/>
              </a:rPr>
              <a:t> </a:t>
            </a:r>
            <a:r>
              <a:rPr lang="en-US" sz="3200" dirty="0" err="1">
                <a:solidFill>
                  <a:srgbClr val="1E293B"/>
                </a:solidFill>
                <a:latin typeface="Segoe UI"/>
                <a:ea typeface="Times New Roman"/>
                <a:cs typeface="Times New Roman"/>
                <a:sym typeface="Times New Roman"/>
              </a:rPr>
              <a:t>définis</a:t>
            </a:r>
            <a:r>
              <a:rPr lang="en-US" sz="3200" dirty="0">
                <a:solidFill>
                  <a:srgbClr val="1E293B"/>
                </a:solidFill>
                <a:latin typeface="Segoe UI"/>
                <a:ea typeface="Times New Roman"/>
                <a:cs typeface="Times New Roman"/>
                <a:sym typeface="Times New Roman"/>
              </a:rPr>
              <a:t> à savoir:</a:t>
            </a:r>
          </a:p>
          <a:p>
            <a:pPr marL="647700" lvl="1" indent="-323850" algn="just">
              <a:lnSpc>
                <a:spcPts val="4200"/>
              </a:lnSpc>
              <a:buFont typeface="Arial"/>
              <a:buChar cha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permettre aux utilisateurs de rechercher des logements selon des critères précis tels que la localisation, le prix, le type de logement et les commodités </a:t>
            </a:r>
            <a:r>
              <a:rPr lang="en-US" sz="3200" dirty="0" smtClean="0">
                <a:solidFill>
                  <a:srgbClr val="1E293B"/>
                </a:solidFill>
                <a:latin typeface="Segoe UI" panose="02020603050405020304" pitchFamily="18" charset="0"/>
                <a:ea typeface="Times New Roman"/>
                <a:cs typeface="Times New Roman" panose="02020603050405020304" pitchFamily="18" charset="0"/>
                <a:sym typeface="Times New Roman"/>
              </a:rPr>
              <a:t>.</a:t>
            </a:r>
            <a:endParaRPr lang="en-US" sz="3000" dirty="0">
              <a:solidFill>
                <a:srgbClr val="000000"/>
              </a:solidFill>
              <a:latin typeface="Times New Roman" panose="02020603050405020304" pitchFamily="18" charset="0"/>
              <a:ea typeface="Times New Roman"/>
              <a:cs typeface="Times New Roman" panose="02020603050405020304" pitchFamily="18" charset="0"/>
              <a:sym typeface="Times New Roman"/>
            </a:endParaRPr>
          </a:p>
          <a:p>
            <a:pPr marL="647700" lvl="1" indent="-323850" algn="just">
              <a:lnSpc>
                <a:spcPts val="4200"/>
              </a:lnSpc>
              <a:buFont typeface="Arial"/>
              <a:buChar cha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centraliser les offres de location sur une plateforme unique</a:t>
            </a:r>
            <a:r>
              <a:rPr lang="fr-FR" sz="3200" dirty="0">
                <a:solidFill>
                  <a:srgbClr val="1E293B"/>
                </a:solidFill>
                <a:latin typeface="Segoe UI"/>
              </a:rPr>
              <a:t> </a:t>
            </a:r>
            <a:r>
              <a:rPr lang="en-US" sz="3200" dirty="0">
                <a:solidFill>
                  <a:srgbClr val="1E293B"/>
                </a:solidFill>
                <a:latin typeface="Segoe UI"/>
                <a:ea typeface="Times New Roman"/>
                <a:cs typeface="Times New Roman"/>
                <a:sym typeface="Times New Roman"/>
              </a:rPr>
              <a:t>.</a:t>
            </a:r>
          </a:p>
          <a:p>
            <a:pPr marL="647700" lvl="1" indent="-323850" algn="just">
              <a:lnSpc>
                <a:spcPts val="4200"/>
              </a:lnSpc>
              <a:buFont typeface="Arial"/>
              <a:buChar cha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simplifier la mise en relation entre les demandeurs de logements et les acteurs immobiliers </a:t>
            </a:r>
            <a:r>
              <a:rPr lang="en-US" sz="3200" dirty="0" err="1" smtClean="0">
                <a:solidFill>
                  <a:srgbClr val="1E293B"/>
                </a:solidFill>
                <a:latin typeface="Segoe UI"/>
                <a:ea typeface="Times New Roman"/>
                <a:cs typeface="Times New Roman"/>
                <a:sym typeface="Times New Roman"/>
              </a:rPr>
              <a:t>Minimiser</a:t>
            </a:r>
            <a:r>
              <a:rPr lang="en-US" sz="3200" dirty="0" smtClean="0">
                <a:solidFill>
                  <a:srgbClr val="1E293B"/>
                </a:solidFill>
                <a:latin typeface="Segoe UI"/>
                <a:ea typeface="Times New Roman"/>
                <a:cs typeface="Times New Roman"/>
                <a:sym typeface="Times New Roman"/>
              </a:rPr>
              <a:t> </a:t>
            </a:r>
            <a:r>
              <a:rPr lang="en-US" sz="3200" dirty="0">
                <a:solidFill>
                  <a:srgbClr val="1E293B"/>
                </a:solidFill>
                <a:latin typeface="Segoe UI"/>
                <a:ea typeface="Times New Roman"/>
                <a:cs typeface="Times New Roman"/>
                <a:sym typeface="Times New Roman"/>
              </a:rPr>
              <a:t>le </a:t>
            </a:r>
            <a:r>
              <a:rPr lang="en-US" sz="3200" dirty="0" err="1">
                <a:solidFill>
                  <a:srgbClr val="1E293B"/>
                </a:solidFill>
                <a:latin typeface="Segoe UI"/>
                <a:ea typeface="Times New Roman"/>
                <a:cs typeface="Times New Roman"/>
                <a:sym typeface="Times New Roman"/>
              </a:rPr>
              <a:t>risque</a:t>
            </a:r>
            <a:r>
              <a:rPr lang="en-US" sz="3200" dirty="0">
                <a:solidFill>
                  <a:srgbClr val="1E293B"/>
                </a:solidFill>
                <a:latin typeface="Segoe UI"/>
                <a:ea typeface="Times New Roman"/>
                <a:cs typeface="Times New Roman"/>
                <a:sym typeface="Times New Roman"/>
              </a:rPr>
              <a:t> de </a:t>
            </a:r>
            <a:r>
              <a:rPr lang="en-US" sz="3200" dirty="0" err="1">
                <a:solidFill>
                  <a:srgbClr val="1E293B"/>
                </a:solidFill>
                <a:latin typeface="Segoe UI"/>
                <a:ea typeface="Times New Roman"/>
                <a:cs typeface="Times New Roman"/>
                <a:sym typeface="Times New Roman"/>
              </a:rPr>
              <a:t>fuite</a:t>
            </a:r>
            <a:r>
              <a:rPr lang="en-US" sz="3200" dirty="0">
                <a:solidFill>
                  <a:srgbClr val="1E293B"/>
                </a:solidFill>
                <a:latin typeface="Segoe UI"/>
                <a:ea typeface="Times New Roman"/>
                <a:cs typeface="Times New Roman"/>
                <a:sym typeface="Times New Roman"/>
              </a:rPr>
              <a:t> de </a:t>
            </a:r>
            <a:r>
              <a:rPr lang="en-US" sz="3200" dirty="0" err="1">
                <a:solidFill>
                  <a:srgbClr val="1E293B"/>
                </a:solidFill>
                <a:latin typeface="Segoe UI"/>
                <a:ea typeface="Times New Roman"/>
                <a:cs typeface="Times New Roman"/>
                <a:sym typeface="Times New Roman"/>
              </a:rPr>
              <a:t>données</a:t>
            </a:r>
            <a:r>
              <a:rPr lang="en-US" sz="3200" dirty="0" smtClean="0">
                <a:solidFill>
                  <a:srgbClr val="1E293B"/>
                </a:solidFill>
                <a:latin typeface="Segoe UI"/>
                <a:ea typeface="Times New Roman"/>
                <a:cs typeface="Times New Roman"/>
                <a:sym typeface="Times New Roman"/>
              </a:rPr>
              <a:t>.</a:t>
            </a:r>
            <a:endParaRPr lang="en-US" sz="3000" dirty="0">
              <a:solidFill>
                <a:srgbClr val="000000"/>
              </a:solidFill>
              <a:latin typeface="Times New Roman"/>
              <a:ea typeface="Times New Roman"/>
              <a:cs typeface="Times New Roman"/>
              <a:sym typeface="Times New Roman"/>
            </a:endParaRPr>
          </a:p>
        </p:txBody>
      </p:sp>
      <p:sp>
        <p:nvSpPr>
          <p:cNvPr id="15" name="Freeform 7"/>
          <p:cNvSpPr/>
          <p:nvPr/>
        </p:nvSpPr>
        <p:spPr>
          <a:xfrm>
            <a:off x="1984636" y="4778526"/>
            <a:ext cx="509409" cy="584946"/>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chemeClr val="accent1"/>
          </a:solidFill>
        </p:spPr>
        <p:txBody>
          <a:bodyPr/>
          <a:lstStyle/>
          <a:p>
            <a:pPr algn="ctr">
              <a:defRPr sz="2200">
                <a:solidFill>
                  <a:srgbClr val="1E293B"/>
                </a:solidFill>
                <a:latin typeface="Segoe UI"/>
              </a:defRPr>
            </a:pPr>
            <a:r>
              <a:rPr lang="fr-FR" sz="2200" dirty="0" smtClean="0">
                <a:solidFill>
                  <a:srgbClr val="1E293B"/>
                </a:solidFill>
                <a:latin typeface="Segoe UI" panose="02020603050405020304" pitchFamily="18" charset="0"/>
                <a:cs typeface="Times New Roman" panose="02020603050405020304" pitchFamily="18" charset="0"/>
              </a:rPr>
              <a:t>2</a:t>
            </a:r>
            <a:endParaRPr lang="fr-FR"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1273148"/>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10" name="Rectangle 9"/>
          <p:cNvSpPr/>
          <p:nvPr/>
        </p:nvSpPr>
        <p:spPr>
          <a:xfrm>
            <a:off x="365760" y="457200"/>
            <a:ext cx="109728" cy="9372600"/>
          </a:xfrm>
          <a:prstGeom prst="rect">
            <a:avLst/>
          </a:prstGeom>
          <a:solidFill>
            <a:srgbClr val="FFFFF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1E293B"/>
                </a:solidFill>
                <a:latin typeface="Segoe UI"/>
              </a:defRPr>
            </a:pPr>
          </a:p>
        </p:txBody>
      </p:sp>
      <p:nvGrpSpPr>
        <p:cNvPr id="1" name=""/>
        <p:cNvGrpSpPr/>
        <p:nvPr/>
      </p:nvGrpSpPr>
      <p:grpSpPr>
        <a:xfrm>
          <a:off x="0" y="0"/>
          <a:ext cx="0" cy="0"/>
          <a:chOff x="0" y="0"/>
          <a:chExt cx="0" cy="0"/>
        </a:xfrm>
      </p:grpSpPr>
      <p:sp>
        <p:nvSpPr>
          <p:cNvPr id="4" name="TextBox 3"/>
          <p:cNvSpPr txBox="1"/>
          <p:nvPr/>
        </p:nvSpPr>
        <p:spPr>
          <a:xfrm>
            <a:off x="6518435" y="0"/>
            <a:ext cx="6168865" cy="1795363"/>
          </a:xfrm>
          <a:prstGeom prst="rect">
            <a:avLst/>
          </a:prstGeom>
        </p:spPr>
        <p:txBody>
          <a:bodyPr wrap="square" lIns="0" tIns="0" rIns="0" bIns="0" rtlCol="0" anchor="t">
            <a:spAutoFit/>
          </a:bodyPr>
          <a:lstStyle/>
          <a:p>
            <a:pPr algn="ctr">
              <a:lnSpc>
                <a:spcPts val="7000"/>
              </a:lnSpc>
              <a:spcBef>
                <a:spcPct val="0"/>
              </a:spcBef>
              <a:defRPr sz="3200">
                <a:solidFill>
                  <a:srgbClr val="1E293B"/>
                </a:solidFill>
                <a:latin typeface="Segoe UI"/>
              </a:defRPr>
            </a:pPr>
            <a:r>
              <a:rPr lang="en-US" sz="3200" dirty="0" smtClean="0">
                <a:solidFill>
                  <a:srgbClr val="1E293B"/>
                </a:solidFill>
                <a:latin typeface="Segoe UI"/>
                <a:ea typeface="Times New Roman Bold"/>
                <a:cs typeface="Times New Roman Bold"/>
                <a:sym typeface="Times New Roman Bold"/>
              </a:rPr>
              <a:t>ANALYSE DE L’EXISTANT</a:t>
            </a:r>
            <a:endParaRPr lang="en-US" sz="5000" b="1" dirty="0">
              <a:solidFill>
                <a:srgbClr val="000000"/>
              </a:solidFill>
              <a:latin typeface="Times New Roman Bold"/>
              <a:ea typeface="Times New Roman Bold"/>
              <a:cs typeface="Times New Roman Bold"/>
              <a:sym typeface="Times New Roman Bold"/>
            </a:endParaRPr>
          </a:p>
        </p:txBody>
      </p:sp>
      <p:pic>
        <p:nvPicPr>
          <p:cNvPr id="6" name="Image 5"/>
          <p:cNvPicPr/>
          <p:nvPr/>
        </p:nvPicPr>
        <p:blipFill>
          <a:blip r:embed="rId2"/>
          <a:stretch>
            <a:fillRect/>
          </a:stretch>
        </p:blipFill>
        <p:spPr>
          <a:xfrm>
            <a:off x="889000" y="2381250"/>
            <a:ext cx="3149600" cy="2381249"/>
          </a:xfrm>
          <a:prstGeom prst="rect">
            <a:avLst/>
          </a:prstGeom>
          <a:ln w="25400">
            <a:solidFill>
              <a:srgbClr val="E2E8F0"/>
            </a:solidFill>
          </a:ln>
        </p:spPr>
      </p:pic>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6750" y="2381250"/>
            <a:ext cx="3124200" cy="2819400"/>
          </a:xfrm>
          <a:prstGeom prst="rect">
            <a:avLst/>
          </a:prstGeom>
          <a:ln w="25400">
            <a:solidFill>
              <a:srgbClr val="E2E8F0"/>
            </a:solidFill>
          </a:ln>
        </p:spPr>
      </p:pic>
      <p:pic>
        <p:nvPicPr>
          <p:cNvPr id="8" name="Imag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5370" y="5481737"/>
            <a:ext cx="2466460" cy="2385856"/>
          </a:xfrm>
          <a:prstGeom prst="rect">
            <a:avLst/>
          </a:prstGeom>
          <a:ln w="25400">
            <a:solidFill>
              <a:srgbClr val="E2E8F0"/>
            </a:solidFill>
          </a:ln>
        </p:spPr>
      </p:pic>
      <p:sp>
        <p:nvSpPr>
          <p:cNvPr id="9" name="Rectangle 8"/>
          <p:cNvSpPr/>
          <p:nvPr/>
        </p:nvSpPr>
        <p:spPr>
          <a:xfrm>
            <a:off x="8115300" y="4300834"/>
            <a:ext cx="9144000" cy="2400657"/>
          </a:xfrm>
          <a:prstGeom prst="rect">
            <a:avLst/>
          </a:prstGeom>
          <a:solidFill>
            <a:srgbClr val="FFFFFF"/>
          </a:solidFill>
          <a:ln w="25400">
            <a:solidFill>
              <a:srgbClr val="22C55E"/>
            </a:solidFill>
          </a:ln>
        </p:spPr>
        <p:txBody>
          <a:bodyPr>
            <a:spAutoFit/>
          </a:bodyPr>
          <a:lstStyle/>
          <a:p>
            <a:pP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L'analyse de l'existant nous a permis d'identifier plusieurs limites dans la gestion des activités immobilières. Les annonces étaient gérées sur des fichiers Excel et les échanges se faisaient principalement par téléphone ou via WhatsApp</a:t>
            </a:r>
          </a:p>
        </p:txBody>
      </p:sp>
    </p:spTree>
    <p:extLst>
      <p:ext uri="{BB962C8B-B14F-4D97-AF65-F5344CB8AC3E}">
        <p14:creationId xmlns:p14="http://schemas.microsoft.com/office/powerpoint/2010/main" val="3691791479"/>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8" name="Rectangle 7"/>
          <p:cNvSpPr/>
          <p:nvPr/>
        </p:nvSpPr>
        <p:spPr>
          <a:xfrm>
            <a:off x="365760" y="457200"/>
            <a:ext cx="109728" cy="9372600"/>
          </a:xfrm>
          <a:prstGeom prst="rect">
            <a:avLst/>
          </a:prstGeom>
          <a:solidFill>
            <a:srgbClr val="FFFFF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1E293B"/>
                </a:solidFill>
                <a:latin typeface="Segoe UI"/>
              </a:defRPr>
            </a:pPr>
          </a:p>
        </p:txBody>
      </p:sp>
      <p:nvGrpSpPr>
        <p:cNvPr id="1" name=""/>
        <p:cNvGrpSpPr/>
        <p:nvPr/>
      </p:nvGrpSpPr>
      <p:grpSpPr>
        <a:xfrm>
          <a:off x="0" y="0"/>
          <a:ext cx="0" cy="0"/>
          <a:chOff x="0" y="0"/>
          <a:chExt cx="0" cy="0"/>
        </a:xfrm>
      </p:grpSpPr>
      <p:sp>
        <p:nvSpPr>
          <p:cNvPr id="4" name="TextBox 4"/>
          <p:cNvSpPr txBox="1"/>
          <p:nvPr/>
        </p:nvSpPr>
        <p:spPr>
          <a:xfrm>
            <a:off x="5019669" y="242797"/>
            <a:ext cx="8248659" cy="819327"/>
          </a:xfrm>
          <a:prstGeom prst="rect">
            <a:avLst/>
          </a:prstGeom>
        </p:spPr>
        <p:txBody>
          <a:bodyPr lIns="0" tIns="0" rIns="0" bIns="0" rtlCol="0" anchor="t">
            <a:spAutoFit/>
          </a:bodyPr>
          <a:lstStyle/>
          <a:p>
            <a:pPr algn="ctr">
              <a:lnSpc>
                <a:spcPts val="7000"/>
              </a:lnSpc>
              <a:spcBef>
                <a:spcPct val="0"/>
              </a:spcBef>
              <a:defRPr sz="3200">
                <a:solidFill>
                  <a:srgbClr val="1E293B"/>
                </a:solidFill>
                <a:latin typeface="Segoe UI"/>
              </a:defRPr>
            </a:pPr>
            <a:r>
              <a:rPr lang="en-US" sz="3200" dirty="0" smtClean="0">
                <a:solidFill>
                  <a:srgbClr val="1E293B"/>
                </a:solidFill>
                <a:latin typeface="Segoe UI"/>
                <a:ea typeface="Times New Roman MT Bold"/>
                <a:cs typeface="Times New Roman MT Bold"/>
                <a:sym typeface="Times New Roman MT Bold"/>
              </a:rPr>
              <a:t>SOLUTION PROPOSEE</a:t>
            </a:r>
            <a:endParaRPr lang="en-US" sz="5000" b="1" dirty="0">
              <a:solidFill>
                <a:srgbClr val="000000"/>
              </a:solidFill>
              <a:latin typeface="Times New Roman MT Bold"/>
              <a:ea typeface="Times New Roman MT Bold"/>
              <a:cs typeface="Times New Roman MT Bold"/>
              <a:sym typeface="Times New Roman MT Bold"/>
            </a:endParaRP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9874" y="1607594"/>
            <a:ext cx="3646275" cy="7856171"/>
          </a:xfrm>
          <a:prstGeom prst="rect">
            <a:avLst/>
          </a:prstGeom>
          <a:ln w="25400">
            <a:solidFill>
              <a:srgbClr val="E2E8F0"/>
            </a:solidFill>
          </a:ln>
        </p:spPr>
      </p:pic>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4363" y="1607594"/>
            <a:ext cx="3688187" cy="7844535"/>
          </a:xfrm>
          <a:prstGeom prst="rect">
            <a:avLst/>
          </a:prstGeom>
          <a:ln w="25400">
            <a:solidFill>
              <a:srgbClr val="E2E8F0"/>
            </a:solidFill>
          </a:ln>
        </p:spPr>
      </p:pic>
      <p:sp>
        <p:nvSpPr>
          <p:cNvPr id="7" name="Rectangle 6"/>
          <p:cNvSpPr/>
          <p:nvPr/>
        </p:nvSpPr>
        <p:spPr>
          <a:xfrm>
            <a:off x="11506199" y="4329532"/>
            <a:ext cx="6534151" cy="2400657"/>
          </a:xfrm>
          <a:prstGeom prst="rect">
            <a:avLst/>
          </a:prstGeom>
          <a:solidFill>
            <a:srgbClr val="FFFFFF"/>
          </a:solidFill>
          <a:ln w="25400">
            <a:solidFill>
              <a:srgbClr val="22C55E"/>
            </a:solidFill>
          </a:ln>
        </p:spPr>
        <p:txBody>
          <a:bodyPr wrap="square">
            <a:spAutoFit/>
          </a:bodyPr>
          <a:lstStyle/>
          <a:p>
            <a:pP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La solution développée est composée de deux applications mobiles destinées aux locataires et aux propriétaires, ainsi qu'un back-office permettant à l'administrateur de gérer la plateforme.</a:t>
            </a:r>
          </a:p>
        </p:txBody>
      </p:sp>
    </p:spTree>
    <p:extLst>
      <p:ext uri="{BB962C8B-B14F-4D97-AF65-F5344CB8AC3E}">
        <p14:creationId xmlns:p14="http://schemas.microsoft.com/office/powerpoint/2010/main" val="3457916245"/>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10" name="Rectangle 9"/>
          <p:cNvSpPr/>
          <p:nvPr/>
        </p:nvSpPr>
        <p:spPr>
          <a:xfrm>
            <a:off x="365760" y="457200"/>
            <a:ext cx="109728" cy="9372600"/>
          </a:xfrm>
          <a:prstGeom prst="rect">
            <a:avLst/>
          </a:prstGeom>
          <a:solidFill>
            <a:srgbClr val="FFFFF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1E293B"/>
                </a:solidFill>
                <a:latin typeface="Segoe UI"/>
              </a:defRPr>
            </a:pPr>
          </a:p>
        </p:txBody>
      </p:sp>
      <p:nvGrpSpPr>
        <p:cNvPr id="1" name=""/>
        <p:cNvGrpSpPr/>
        <p:nvPr/>
      </p:nvGrpSpPr>
      <p:grpSpPr>
        <a:xfrm>
          <a:off x="0" y="0"/>
          <a:ext cx="0" cy="0"/>
          <a:chOff x="0" y="0"/>
          <a:chExt cx="0" cy="0"/>
        </a:xfrm>
      </p:grpSpPr>
      <p:sp>
        <p:nvSpPr>
          <p:cNvPr id="5" name="TextBox 25"/>
          <p:cNvSpPr txBox="1"/>
          <p:nvPr/>
        </p:nvSpPr>
        <p:spPr>
          <a:xfrm>
            <a:off x="4374604" y="218765"/>
            <a:ext cx="10846346" cy="538609"/>
          </a:xfrm>
          <a:prstGeom prst="rect">
            <a:avLst/>
          </a:prstGeom>
        </p:spPr>
        <p:txBody>
          <a:bodyPr wrap="square" lIns="0" tIns="0" rIns="0" bIns="0" rtlCol="0" anchor="t">
            <a:spAutoFit/>
          </a:bodyPr>
          <a:lstStyle/>
          <a:p>
            <a:pPr algn="ctr">
              <a:lnSpc>
                <a:spcPts val="4200"/>
              </a:lnSpc>
              <a:spcBef>
                <a:spcPct val="0"/>
              </a:spcBef>
              <a:defRPr sz="3200">
                <a:solidFill>
                  <a:srgbClr val="1E293B"/>
                </a:solidFill>
                <a:latin typeface="Segoe UI"/>
              </a:defRPr>
            </a:pPr>
            <a:r>
              <a:rPr lang="en-US" sz="3200" dirty="0" smtClean="0">
                <a:solidFill>
                  <a:srgbClr val="1E293B"/>
                </a:solidFill>
                <a:latin typeface="Segoe UI" panose="02020603050405020304" pitchFamily="18" charset="0"/>
                <a:cs typeface="Times New Roman" panose="02020603050405020304" pitchFamily="18" charset="0"/>
              </a:rPr>
              <a:t>CONCEPTION DE LA SOLUTION</a:t>
            </a:r>
            <a:endParaRPr lang="en-US" sz="5000" b="1" dirty="0">
              <a:solidFill>
                <a:srgbClr val="000000"/>
              </a:solidFill>
              <a:latin typeface="Times New Roman" panose="02020603050405020304" pitchFamily="18" charset="0"/>
              <a:ea typeface="Times New Roman MT Bold"/>
              <a:cs typeface="Times New Roman" panose="02020603050405020304" pitchFamily="18" charset="0"/>
              <a:sym typeface="Times New Roman MT Bold"/>
            </a:endParaRPr>
          </a:p>
        </p:txBody>
      </p:sp>
      <p:sp>
        <p:nvSpPr>
          <p:cNvPr id="6" name="Espace réservé du contenu 3"/>
          <p:cNvSpPr>
            <a:spLocks noGrp="1"/>
          </p:cNvSpPr>
          <p:nvPr>
            <p:ph sz="half" idx="1"/>
          </p:nvPr>
        </p:nvSpPr>
        <p:spPr>
          <a:xfrm>
            <a:off x="647700" y="1825625"/>
            <a:ext cx="5181600" cy="4351338"/>
          </a:xfrm>
        </p:spPr>
        <p:txBody>
          <a:bodyPr/>
          <a:lstStyle/>
          <a:p>
            <a:pPr algn="ctr">
              <a:defRPr sz="2200">
                <a:solidFill>
                  <a:srgbClr val="1E293B"/>
                </a:solidFill>
                <a:latin typeface="Segoe UI"/>
              </a:defRPr>
            </a:pPr>
            <a:r>
              <a:rPr lang="fr-FR" altLang="en-US" dirty="0" sz="2200">
                <a:solidFill>
                  <a:srgbClr val="1E293B"/>
                </a:solidFill>
                <a:latin typeface="Segoe UI" panose="020B0604020202020204" pitchFamily="34" charset="0"/>
                <a:cs typeface="Arial" panose="020B0604020202020204" pitchFamily="34" charset="0"/>
              </a:rPr>
              <a:t>MODÉLISATION</a:t>
            </a:r>
          </a:p>
          <a:p>
            <a:pPr algn="ctr">
              <a:defRPr sz="2200">
                <a:solidFill>
                  <a:srgbClr val="1E293B"/>
                </a:solidFill>
                <a:latin typeface="Segoe UI"/>
              </a:defRPr>
            </a:pPr>
            <a:endParaRPr lang="fr-FR" altLang="en-US" dirty="0">
              <a:latin typeface="Arial" panose="020B0604020202020204" pitchFamily="34" charset="0"/>
              <a:cs typeface="Arial" panose="020B0604020202020204" pitchFamily="34" charset="0"/>
            </a:endParaRPr>
          </a:p>
          <a:p>
            <a:pPr algn="ctr">
              <a:defRPr sz="2200">
                <a:solidFill>
                  <a:srgbClr val="1E293B"/>
                </a:solidFill>
                <a:latin typeface="Segoe UI"/>
              </a:defRPr>
            </a:pPr>
            <a:endParaRPr lang="fr-FR" altLang="en-US" dirty="0">
              <a:latin typeface="Arial" panose="020B0604020202020204" pitchFamily="34" charset="0"/>
              <a:cs typeface="Arial" panose="020B0604020202020204" pitchFamily="34" charset="0"/>
            </a:endParaRPr>
          </a:p>
          <a:p>
            <a:pPr algn="ctr">
              <a:defRPr sz="2200">
                <a:solidFill>
                  <a:srgbClr val="1E293B"/>
                </a:solidFill>
                <a:latin typeface="Segoe UI"/>
              </a:defRPr>
            </a:pPr>
            <a:r>
              <a:rPr lang="fr-FR" altLang="en-US" dirty="0" sz="2200">
                <a:solidFill>
                  <a:srgbClr val="1E293B"/>
                </a:solidFill>
                <a:latin typeface="Segoe UI" panose="020B0604020202020204" pitchFamily="34" charset="0"/>
                <a:cs typeface="Arial" panose="020B0604020202020204" pitchFamily="34" charset="0"/>
              </a:rPr>
              <a:t>	</a:t>
            </a:r>
          </a:p>
        </p:txBody>
      </p:sp>
      <p:pic>
        <p:nvPicPr>
          <p:cNvPr id="7" name="Image 6"/>
          <p:cNvPicPr>
            <a:picLocks noChangeAspect="1"/>
          </p:cNvPicPr>
          <p:nvPr/>
        </p:nvPicPr>
        <p:blipFill>
          <a:blip r:embed="rId2"/>
          <a:stretch>
            <a:fillRect/>
          </a:stretch>
        </p:blipFill>
        <p:spPr>
          <a:xfrm>
            <a:off x="1068717" y="3048000"/>
            <a:ext cx="5713083" cy="4972050"/>
          </a:xfrm>
          <a:prstGeom prst="rect">
            <a:avLst/>
          </a:prstGeom>
          <a:ln w="25400">
            <a:solidFill>
              <a:srgbClr val="E2E8F0"/>
            </a:solidFill>
          </a:ln>
        </p:spPr>
      </p:pic>
      <p:sp>
        <p:nvSpPr>
          <p:cNvPr id="8" name="Espace réservé du contenu 4"/>
          <p:cNvSpPr txBox="1">
            <a:spLocks/>
          </p:cNvSpPr>
          <p:nvPr/>
        </p:nvSpPr>
        <p:spPr>
          <a:xfrm>
            <a:off x="11258550" y="1825625"/>
            <a:ext cx="5181600" cy="1222375"/>
          </a:xfrm>
          <a:prstGeom prst="rect">
            <a:avLst/>
          </a:prstGeom>
        </p:spPr>
        <p:txBody>
          <a:bodyPr/>
          <a:lst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algn="ctr">
              <a:defRPr sz="2200">
                <a:solidFill>
                  <a:srgbClr val="1E293B"/>
                </a:solidFill>
                <a:latin typeface="Segoe UI"/>
              </a:defRPr>
            </a:pPr>
            <a:r>
              <a:rPr lang="fr-FR" altLang="en-US" dirty="0" smtClean="0" sz="2200">
                <a:solidFill>
                  <a:srgbClr val="1E293B"/>
                </a:solidFill>
                <a:latin typeface="Segoe UI" panose="020B0604020202020204" pitchFamily="34" charset="0"/>
                <a:cs typeface="Arial" panose="020B0604020202020204" pitchFamily="34" charset="0"/>
              </a:rPr>
              <a:t>MÉTHODOLOGIE AGILE</a:t>
            </a:r>
            <a:endParaRPr lang="fr-FR" altLang="en-US" b="1" dirty="0">
              <a:latin typeface="Arial" panose="020B0604020202020204" pitchFamily="34" charset="0"/>
              <a:cs typeface="Arial" panose="020B0604020202020204" pitchFamily="34" charset="0"/>
            </a:endParaRPr>
          </a:p>
        </p:txBody>
      </p:sp>
      <p:pic>
        <p:nvPicPr>
          <p:cNvPr id="9" name="Image 8" descr="Gemini_Generated_Image_p3d6fhp3d6fhp3d6"/>
          <p:cNvPicPr>
            <a:picLocks noChangeAspect="1"/>
          </p:cNvPicPr>
          <p:nvPr/>
        </p:nvPicPr>
        <p:blipFill>
          <a:blip r:embed="rId3"/>
          <a:srcRect l="5805" t="10940" r="6484" b="9671"/>
          <a:stretch>
            <a:fillRect/>
          </a:stretch>
        </p:blipFill>
        <p:spPr>
          <a:xfrm>
            <a:off x="11258550" y="3417263"/>
            <a:ext cx="6515100" cy="5898859"/>
          </a:xfrm>
          <a:prstGeom prst="rect">
            <a:avLst/>
          </a:prstGeom>
          <a:ln w="25400">
            <a:solidFill>
              <a:srgbClr val="E2E8F0"/>
            </a:solidFill>
          </a:ln>
        </p:spPr>
      </p:pic>
    </p:spTree>
    <p:extLst>
      <p:ext uri="{BB962C8B-B14F-4D97-AF65-F5344CB8AC3E}">
        <p14:creationId xmlns:p14="http://schemas.microsoft.com/office/powerpoint/2010/main" val="1511489670"/>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24100" y="32517"/>
            <a:ext cx="13944600" cy="10254483"/>
          </a:xfrm>
          <a:prstGeom prst="rect">
            <a:avLst/>
          </a:prstGeom>
        </p:spPr>
      </p:pic>
    </p:spTree>
    <p:extLst>
      <p:ext uri="{BB962C8B-B14F-4D97-AF65-F5344CB8AC3E}">
        <p14:creationId xmlns:p14="http://schemas.microsoft.com/office/powerpoint/2010/main" val="3938588376"/>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7" name="Rectangle 6"/>
          <p:cNvSpPr/>
          <p:nvPr/>
        </p:nvSpPr>
        <p:spPr>
          <a:xfrm>
            <a:off x="365760" y="457200"/>
            <a:ext cx="109728" cy="9372600"/>
          </a:xfrm>
          <a:prstGeom prst="rect">
            <a:avLst/>
          </a:prstGeom>
          <a:solidFill>
            <a:srgbClr val="FFFFF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1E293B"/>
                </a:solidFill>
                <a:latin typeface="Segoe UI"/>
              </a:defRPr>
            </a:pPr>
          </a:p>
        </p:txBody>
      </p:sp>
      <p:nvGrpSpPr>
        <p:cNvPr id="1" name=""/>
        <p:cNvGrpSpPr/>
        <p:nvPr/>
      </p:nvGrpSpPr>
      <p:grpSpPr>
        <a:xfrm>
          <a:off x="0" y="0"/>
          <a:ext cx="0" cy="0"/>
          <a:chOff x="0" y="0"/>
          <a:chExt cx="0" cy="0"/>
        </a:xfrm>
      </p:grpSpPr>
      <p:sp>
        <p:nvSpPr>
          <p:cNvPr id="4" name="TextBox 24"/>
          <p:cNvSpPr txBox="1"/>
          <p:nvPr/>
        </p:nvSpPr>
        <p:spPr>
          <a:xfrm>
            <a:off x="2866350" y="385883"/>
            <a:ext cx="12183150" cy="538609"/>
          </a:xfrm>
          <a:prstGeom prst="rect">
            <a:avLst/>
          </a:prstGeom>
        </p:spPr>
        <p:txBody>
          <a:bodyPr wrap="square" lIns="0" tIns="0" rIns="0" bIns="0" rtlCol="0" anchor="t">
            <a:spAutoFit/>
          </a:bodyPr>
          <a:lstStyle/>
          <a:p>
            <a:pPr algn="ctr">
              <a:lnSpc>
                <a:spcPts val="4200"/>
              </a:lnSpc>
              <a:spcBef>
                <a:spcPct val="0"/>
              </a:spcBef>
              <a:defRPr sz="3200">
                <a:solidFill>
                  <a:srgbClr val="1E293B"/>
                </a:solidFill>
                <a:latin typeface="Segoe UI"/>
              </a:defRPr>
            </a:pPr>
            <a:r>
              <a:rPr lang="en-US" sz="3200" dirty="0" smtClean="0">
                <a:solidFill>
                  <a:srgbClr val="1E293B"/>
                </a:solidFill>
                <a:latin typeface="Segoe UI"/>
                <a:ea typeface="Times New Roman MT Bold"/>
                <a:cs typeface="Times New Roman MT Bold"/>
                <a:sym typeface="Times New Roman MT Bold"/>
              </a:rPr>
              <a:t>ARCHITECTURE DE LA SOLUTION</a:t>
            </a:r>
            <a:endParaRPr lang="en-US" sz="5000" b="1" dirty="0">
              <a:solidFill>
                <a:srgbClr val="000000"/>
              </a:solidFill>
              <a:latin typeface="Times New Roman MT Bold"/>
              <a:ea typeface="Times New Roman MT Bold"/>
              <a:cs typeface="Times New Roman MT Bold"/>
              <a:sym typeface="Times New Roman MT Bold"/>
            </a:endParaRPr>
          </a:p>
        </p:txBody>
      </p:sp>
      <p:pic>
        <p:nvPicPr>
          <p:cNvPr id="5" name="Imag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0400" y="2488706"/>
            <a:ext cx="8258850" cy="4919349"/>
          </a:xfrm>
          <a:prstGeom prst="rect">
            <a:avLst/>
          </a:prstGeom>
          <a:ln w="25400">
            <a:solidFill>
              <a:srgbClr val="E2E8F0"/>
            </a:solidFill>
          </a:ln>
        </p:spPr>
      </p:pic>
      <p:sp>
        <p:nvSpPr>
          <p:cNvPr id="6" name="Rectangle 5"/>
          <p:cNvSpPr/>
          <p:nvPr/>
        </p:nvSpPr>
        <p:spPr>
          <a:xfrm>
            <a:off x="10634325" y="3663100"/>
            <a:ext cx="6986925" cy="2862322"/>
          </a:xfrm>
          <a:prstGeom prst="rect">
            <a:avLst/>
          </a:prstGeom>
          <a:solidFill>
            <a:srgbClr val="FFFFFF"/>
          </a:solidFill>
          <a:ln w="25400">
            <a:solidFill>
              <a:srgbClr val="22C55E"/>
            </a:solidFill>
          </a:ln>
        </p:spPr>
        <p:txBody>
          <a:bodyPr wrap="square">
            <a:spAutoFit/>
          </a:bodyPr>
          <a:lstStyle/>
          <a:p>
            <a:pPr algn="just">
              <a:defRPr sz="3200">
                <a:solidFill>
                  <a:srgbClr val="1E293B"/>
                </a:solidFill>
                <a:latin typeface="Segoe UI"/>
              </a:defRPr>
            </a:pPr>
            <a:r>
              <a:rPr lang="fr-FR" sz="3200" dirty="0" smtClean="0">
                <a:solidFill>
                  <a:srgbClr val="1E293B"/>
                </a:solidFill>
                <a:latin typeface="Segoe UI" panose="02020603050405020304" pitchFamily="18" charset="0"/>
                <a:cs typeface="Times New Roman" panose="02020603050405020304" pitchFamily="18" charset="0"/>
              </a:rPr>
              <a:t>L'application repose sur une architecture client-serveur. Les utilisateurs utilisent les applications mobiles, qui communiquent avec une API développée en Node.js. Les données sont stockées dans PostgreSQL et les images sont hébergées sur </a:t>
            </a:r>
            <a:r>
              <a:rPr lang="fr-FR" sz="3200" dirty="0" err="1" smtClean="0">
                <a:solidFill>
                  <a:srgbClr val="1E293B"/>
                </a:solidFill>
                <a:latin typeface="Segoe UI" panose="02020603050405020304" pitchFamily="18" charset="0"/>
                <a:cs typeface="Times New Roman" panose="02020603050405020304" pitchFamily="18" charset="0"/>
              </a:rPr>
              <a:t>Cloudinary</a:t>
            </a:r>
            <a:r>
              <a:rPr lang="fr-FR" sz="3200" dirty="0" smtClean="0">
                <a:solidFill>
                  <a:srgbClr val="1E293B"/>
                </a:solidFill>
                <a:latin typeface="Segoe UI" panose="02020603050405020304" pitchFamily="18" charset="0"/>
                <a:cs typeface="Times New Roman" panose="02020603050405020304" pitchFamily="18" charset="0"/>
              </a:rPr>
              <a:t>.</a:t>
            </a:r>
            <a:endParaRPr lang="fr-FR"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0270590"/>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7" name="Rectangle 6"/>
          <p:cNvSpPr/>
          <p:nvPr/>
        </p:nvSpPr>
        <p:spPr>
          <a:xfrm>
            <a:off x="365760" y="457200"/>
            <a:ext cx="109728" cy="9372600"/>
          </a:xfrm>
          <a:prstGeom prst="rect">
            <a:avLst/>
          </a:prstGeom>
          <a:solidFill>
            <a:srgbClr val="FFFFF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1E293B"/>
                </a:solidFill>
                <a:latin typeface="Segoe UI"/>
              </a:defRPr>
            </a:pPr>
          </a:p>
        </p:txBody>
      </p:sp>
      <p:nvGrpSpPr>
        <p:cNvPr id="1" name=""/>
        <p:cNvGrpSpPr/>
        <p:nvPr/>
      </p:nvGrpSpPr>
      <p:grpSpPr>
        <a:xfrm>
          <a:off x="0" y="0"/>
          <a:ext cx="0" cy="0"/>
          <a:chOff x="0" y="0"/>
          <a:chExt cx="0" cy="0"/>
        </a:xfrm>
      </p:grpSpPr>
      <p:sp>
        <p:nvSpPr>
          <p:cNvPr id="4" name="TextBox 26"/>
          <p:cNvSpPr txBox="1"/>
          <p:nvPr/>
        </p:nvSpPr>
        <p:spPr>
          <a:xfrm>
            <a:off x="3085058" y="372269"/>
            <a:ext cx="12345441" cy="538609"/>
          </a:xfrm>
          <a:prstGeom prst="rect">
            <a:avLst/>
          </a:prstGeom>
        </p:spPr>
        <p:txBody>
          <a:bodyPr wrap="square" lIns="0" tIns="0" rIns="0" bIns="0" rtlCol="0" anchor="t">
            <a:spAutoFit/>
          </a:bodyPr>
          <a:lstStyle/>
          <a:p>
            <a:pPr algn="ctr">
              <a:lnSpc>
                <a:spcPts val="4200"/>
              </a:lnSpc>
              <a:spcBef>
                <a:spcPct val="0"/>
              </a:spcBef>
              <a:defRPr sz="3200">
                <a:solidFill>
                  <a:srgbClr val="1E293B"/>
                </a:solidFill>
                <a:latin typeface="Segoe UI"/>
              </a:defRPr>
            </a:pPr>
            <a:r>
              <a:rPr lang="en-US" sz="3200" dirty="0">
                <a:solidFill>
                  <a:srgbClr val="1E293B"/>
                </a:solidFill>
                <a:latin typeface="Segoe UI"/>
                <a:ea typeface="Times New Roman MT Bold"/>
                <a:cs typeface="Times New Roman MT Bold"/>
                <a:sym typeface="Times New Roman MT Bold"/>
              </a:rPr>
              <a:t>MÉTHODOLOGIE DE MISE EN ŒUVRE</a:t>
            </a:r>
          </a:p>
        </p:txBody>
      </p:sp>
      <p:pic>
        <p:nvPicPr>
          <p:cNvPr id="5" name="Imag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52760" y="1295400"/>
            <a:ext cx="9682730" cy="8217082"/>
          </a:xfrm>
          <a:prstGeom prst="rect">
            <a:avLst/>
          </a:prstGeom>
          <a:ln w="25400">
            <a:solidFill>
              <a:srgbClr val="E2E8F0"/>
            </a:solidFill>
          </a:ln>
        </p:spPr>
      </p:pic>
      <p:sp>
        <p:nvSpPr>
          <p:cNvPr id="6" name="Rectangle 1"/>
          <p:cNvSpPr>
            <a:spLocks noChangeArrowheads="1"/>
          </p:cNvSpPr>
          <p:nvPr/>
        </p:nvSpPr>
        <p:spPr bwMode="auto">
          <a:xfrm>
            <a:off x="11454590" y="4203612"/>
            <a:ext cx="6319060" cy="2400657"/>
          </a:xfrm>
          <a:prstGeom prst="rect">
            <a:avLst/>
          </a:prstGeom>
          <a:solidFill>
            <a:srgbClr val="FFFFFF"/>
          </a:solidFill>
          <a:ln w="25400">
            <a:solidFill>
              <a:srgbClr val="22C55E"/>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sz="3200">
                <a:solidFill>
                  <a:srgbClr val="1E293B"/>
                </a:solidFill>
                <a:latin typeface="Segoe UI"/>
              </a:defRPr>
            </a:pP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Le </a:t>
            </a:r>
            <a:r>
              <a:rPr kumimoji="0" lang="en-US" altLang="en-US" sz="3200" i="0" u="none" strike="noStrike" cap="none" normalizeH="0" baseline="0" dirty="0" err="1" smtClean="0">
                <a:ln>
                  <a:noFill/>
                </a:ln>
                <a:solidFill>
                  <a:srgbClr val="1E293B"/>
                </a:solidFill>
                <a:effectLst/>
                <a:latin typeface="Segoe UI" panose="02020603050405020304" pitchFamily="18" charset="0"/>
                <a:cs typeface="Times New Roman" panose="02020603050405020304" pitchFamily="18" charset="0"/>
              </a:rPr>
              <a:t>projet</a:t>
            </a: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 a </a:t>
            </a:r>
            <a:r>
              <a:rPr kumimoji="0" lang="en-US" altLang="en-US" sz="3200" i="0" u="none" strike="noStrike" cap="none" normalizeH="0" baseline="0" dirty="0" err="1" smtClean="0">
                <a:ln>
                  <a:noFill/>
                </a:ln>
                <a:solidFill>
                  <a:srgbClr val="1E293B"/>
                </a:solidFill>
                <a:effectLst/>
                <a:latin typeface="Segoe UI" panose="02020603050405020304" pitchFamily="18" charset="0"/>
                <a:cs typeface="Times New Roman" panose="02020603050405020304" pitchFamily="18" charset="0"/>
              </a:rPr>
              <a:t>été</a:t>
            </a: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 </a:t>
            </a:r>
            <a:r>
              <a:rPr kumimoji="0" lang="en-US" altLang="en-US" sz="3200" i="0" u="none" strike="noStrike" cap="none" normalizeH="0" baseline="0" dirty="0" err="1" smtClean="0">
                <a:ln>
                  <a:noFill/>
                </a:ln>
                <a:solidFill>
                  <a:srgbClr val="1E293B"/>
                </a:solidFill>
                <a:effectLst/>
                <a:latin typeface="Segoe UI" panose="02020603050405020304" pitchFamily="18" charset="0"/>
                <a:cs typeface="Times New Roman" panose="02020603050405020304" pitchFamily="18" charset="0"/>
              </a:rPr>
              <a:t>réalisé</a:t>
            </a: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 </a:t>
            </a:r>
            <a:r>
              <a:rPr kumimoji="0" lang="en-US" altLang="en-US" sz="3200" i="0" u="none" strike="noStrike" cap="none" normalizeH="0" baseline="0" dirty="0" err="1" smtClean="0">
                <a:ln>
                  <a:noFill/>
                </a:ln>
                <a:solidFill>
                  <a:srgbClr val="1E293B"/>
                </a:solidFill>
                <a:effectLst/>
                <a:latin typeface="Segoe UI" panose="02020603050405020304" pitchFamily="18" charset="0"/>
                <a:cs typeface="Times New Roman" panose="02020603050405020304" pitchFamily="18" charset="0"/>
              </a:rPr>
              <a:t>en</a:t>
            </a: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 </a:t>
            </a:r>
            <a:r>
              <a:rPr kumimoji="0" lang="en-US" altLang="en-US" sz="3200" i="0" u="none" strike="noStrike" cap="none" normalizeH="0" baseline="0" dirty="0" err="1" smtClean="0">
                <a:ln>
                  <a:noFill/>
                </a:ln>
                <a:solidFill>
                  <a:srgbClr val="1E293B"/>
                </a:solidFill>
                <a:effectLst/>
                <a:latin typeface="Segoe UI" panose="02020603050405020304" pitchFamily="18" charset="0"/>
                <a:cs typeface="Times New Roman" panose="02020603050405020304" pitchFamily="18" charset="0"/>
              </a:rPr>
              <a:t>plusieurs</a:t>
            </a: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 </a:t>
            </a:r>
            <a:r>
              <a:rPr kumimoji="0" lang="en-US" altLang="en-US" sz="3200" i="0" u="none" strike="noStrike" cap="none" normalizeH="0" baseline="0" dirty="0" err="1" smtClean="0">
                <a:ln>
                  <a:noFill/>
                </a:ln>
                <a:solidFill>
                  <a:srgbClr val="1E293B"/>
                </a:solidFill>
                <a:effectLst/>
                <a:latin typeface="Segoe UI" panose="02020603050405020304" pitchFamily="18" charset="0"/>
                <a:cs typeface="Times New Roman" panose="02020603050405020304" pitchFamily="18" charset="0"/>
              </a:rPr>
              <a:t>étapes</a:t>
            </a: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 : </a:t>
            </a:r>
            <a:r>
              <a:rPr kumimoji="0" lang="en-US" altLang="en-US" sz="3200" i="0" u="none" strike="noStrike" cap="none" normalizeH="0" baseline="0" dirty="0" err="1" smtClean="0">
                <a:ln>
                  <a:noFill/>
                </a:ln>
                <a:solidFill>
                  <a:srgbClr val="1E293B"/>
                </a:solidFill>
                <a:effectLst/>
                <a:latin typeface="Segoe UI" panose="02020603050405020304" pitchFamily="18" charset="0"/>
                <a:cs typeface="Times New Roman" panose="02020603050405020304" pitchFamily="18" charset="0"/>
              </a:rPr>
              <a:t>l'analyse</a:t>
            </a: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 des </a:t>
            </a:r>
            <a:r>
              <a:rPr kumimoji="0" lang="en-US" altLang="en-US" sz="3200" i="0" u="none" strike="noStrike" cap="none" normalizeH="0" baseline="0" dirty="0" err="1" smtClean="0">
                <a:ln>
                  <a:noFill/>
                </a:ln>
                <a:solidFill>
                  <a:srgbClr val="1E293B"/>
                </a:solidFill>
                <a:effectLst/>
                <a:latin typeface="Segoe UI" panose="02020603050405020304" pitchFamily="18" charset="0"/>
                <a:cs typeface="Times New Roman" panose="02020603050405020304" pitchFamily="18" charset="0"/>
              </a:rPr>
              <a:t>besoins</a:t>
            </a: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 la conception UML</a:t>
            </a:r>
          </a:p>
          <a:p>
            <a:pPr marL="0" marR="0" lvl="0" indent="0" algn="l" defTabSz="914400" rtl="0" eaLnBrk="0" fontAlgn="base" latinLnBrk="0" hangingPunct="0">
              <a:lnSpc>
                <a:spcPct val="100000"/>
              </a:lnSpc>
              <a:spcBef>
                <a:spcPct val="0"/>
              </a:spcBef>
              <a:spcAft>
                <a:spcPct val="0"/>
              </a:spcAft>
              <a:buClrTx/>
              <a:buSzTx/>
              <a:buFontTx/>
              <a:buNone/>
              <a:tabLst/>
              <a:defRPr sz="3200">
                <a:solidFill>
                  <a:srgbClr val="1E293B"/>
                </a:solidFill>
                <a:latin typeface="Segoe UI"/>
              </a:defRPr>
            </a:pP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 le </a:t>
            </a:r>
            <a:r>
              <a:rPr kumimoji="0" lang="en-US" altLang="en-US" sz="3200" i="0" u="none" strike="noStrike" cap="none" normalizeH="0" baseline="0" dirty="0" err="1" smtClean="0">
                <a:ln>
                  <a:noFill/>
                </a:ln>
                <a:solidFill>
                  <a:srgbClr val="1E293B"/>
                </a:solidFill>
                <a:effectLst/>
                <a:latin typeface="Segoe UI" panose="02020603050405020304" pitchFamily="18" charset="0"/>
                <a:cs typeface="Times New Roman" panose="02020603050405020304" pitchFamily="18" charset="0"/>
              </a:rPr>
              <a:t>développement</a:t>
            </a: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 de </a:t>
            </a:r>
            <a:r>
              <a:rPr kumimoji="0" lang="en-US" altLang="en-US" sz="3200" i="0" u="none" strike="noStrike" cap="none" normalizeH="0" baseline="0" dirty="0" err="1" smtClean="0">
                <a:ln>
                  <a:noFill/>
                </a:ln>
                <a:solidFill>
                  <a:srgbClr val="1E293B"/>
                </a:solidFill>
                <a:effectLst/>
                <a:latin typeface="Segoe UI" panose="02020603050405020304" pitchFamily="18" charset="0"/>
                <a:cs typeface="Times New Roman" panose="02020603050405020304" pitchFamily="18" charset="0"/>
              </a:rPr>
              <a:t>l'application</a:t>
            </a: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 les tests </a:t>
            </a:r>
            <a:r>
              <a:rPr kumimoji="0" lang="en-US" altLang="en-US" sz="3200" i="0" u="none" strike="noStrike" cap="none" normalizeH="0" baseline="0" dirty="0" err="1" smtClean="0">
                <a:ln>
                  <a:noFill/>
                </a:ln>
                <a:solidFill>
                  <a:srgbClr val="1E293B"/>
                </a:solidFill>
                <a:effectLst/>
                <a:latin typeface="Segoe UI" panose="02020603050405020304" pitchFamily="18" charset="0"/>
                <a:cs typeface="Times New Roman" panose="02020603050405020304" pitchFamily="18" charset="0"/>
              </a:rPr>
              <a:t>puis</a:t>
            </a:r>
            <a:r>
              <a:rPr kumimoji="0" lang="en-US" altLang="en-US" sz="3200" i="0" u="none" strike="noStrike" cap="none" normalizeH="0" baseline="0" dirty="0" smtClean="0">
                <a:ln>
                  <a:noFill/>
                </a:ln>
                <a:solidFill>
                  <a:srgbClr val="1E293B"/>
                </a:solidFill>
                <a:effectLst/>
                <a:latin typeface="Segoe UI" panose="02020603050405020304" pitchFamily="18" charset="0"/>
                <a:cs typeface="Times New Roman" panose="02020603050405020304" pitchFamily="18" charset="0"/>
              </a:rPr>
              <a:t> la validation.</a:t>
            </a:r>
          </a:p>
        </p:txBody>
      </p:sp>
    </p:spTree>
    <p:extLst>
      <p:ext uri="{BB962C8B-B14F-4D97-AF65-F5344CB8AC3E}">
        <p14:creationId xmlns:p14="http://schemas.microsoft.com/office/powerpoint/2010/main" val="2359840892"/>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8" name="Rectangle 7"/>
          <p:cNvSpPr/>
          <p:nvPr/>
        </p:nvSpPr>
        <p:spPr>
          <a:xfrm>
            <a:off x="365760" y="457200"/>
            <a:ext cx="109728" cy="9372600"/>
          </a:xfrm>
          <a:prstGeom prst="rect">
            <a:avLst/>
          </a:prstGeom>
          <a:solidFill>
            <a:srgbClr val="FFFFF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1E293B"/>
                </a:solidFill>
                <a:latin typeface="Segoe UI"/>
              </a:defRPr>
            </a:pPr>
          </a:p>
        </p:txBody>
      </p:sp>
      <p:nvGrpSpPr>
        <p:cNvPr id="1" name=""/>
        <p:cNvGrpSpPr/>
        <p:nvPr/>
      </p:nvGrpSpPr>
      <p:grpSpPr>
        <a:xfrm>
          <a:off x="0" y="0"/>
          <a:ext cx="0" cy="0"/>
          <a:chOff x="0" y="0"/>
          <a:chExt cx="0" cy="0"/>
        </a:xfrm>
      </p:grpSpPr>
      <p:sp>
        <p:nvSpPr>
          <p:cNvPr id="5" name="TextBox 27"/>
          <p:cNvSpPr txBox="1"/>
          <p:nvPr/>
        </p:nvSpPr>
        <p:spPr>
          <a:xfrm>
            <a:off x="5198238" y="352778"/>
            <a:ext cx="8670162" cy="538609"/>
          </a:xfrm>
          <a:prstGeom prst="rect">
            <a:avLst/>
          </a:prstGeom>
        </p:spPr>
        <p:txBody>
          <a:bodyPr wrap="square" lIns="0" tIns="0" rIns="0" bIns="0" rtlCol="0" anchor="t">
            <a:spAutoFit/>
          </a:bodyPr>
          <a:lstStyle/>
          <a:p>
            <a:pPr algn="ctr">
              <a:lnSpc>
                <a:spcPts val="4200"/>
              </a:lnSpc>
              <a:spcBef>
                <a:spcPct val="0"/>
              </a:spcBef>
              <a:defRPr sz="3200">
                <a:solidFill>
                  <a:srgbClr val="1E293B"/>
                </a:solidFill>
                <a:latin typeface="Segoe UI"/>
              </a:defRPr>
            </a:pPr>
            <a:r>
              <a:rPr lang="en-US" sz="3200" dirty="0">
                <a:solidFill>
                  <a:srgbClr val="1E293B"/>
                </a:solidFill>
                <a:latin typeface="Segoe UI"/>
                <a:ea typeface="Times New Roman MT Bold"/>
                <a:cs typeface="Times New Roman MT Bold"/>
                <a:sym typeface="Times New Roman MT Bold"/>
              </a:rPr>
              <a:t>RÉSULTATS OBTENUS</a:t>
            </a:r>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6588" y="1268502"/>
            <a:ext cx="3543300" cy="7929143"/>
          </a:xfrm>
          <a:prstGeom prst="rect">
            <a:avLst/>
          </a:prstGeom>
          <a:ln w="25400">
            <a:solidFill>
              <a:srgbClr val="E2E8F0"/>
            </a:solidFill>
          </a:ln>
        </p:spPr>
      </p:pic>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68150" y="1268502"/>
            <a:ext cx="3524250" cy="7866219"/>
          </a:xfrm>
          <a:prstGeom prst="rect">
            <a:avLst/>
          </a:prstGeom>
          <a:ln w="25400">
            <a:solidFill>
              <a:srgbClr val="E2E8F0"/>
            </a:solidFill>
          </a:ln>
        </p:spPr>
      </p:pic>
    </p:spTree>
    <p:extLst>
      <p:ext uri="{BB962C8B-B14F-4D97-AF65-F5344CB8AC3E}">
        <p14:creationId xmlns:p14="http://schemas.microsoft.com/office/powerpoint/2010/main" val="2804551409"/>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6843" y="762066"/>
            <a:ext cx="3981558" cy="8416399"/>
          </a:xfrm>
          <a:prstGeom prst="rect">
            <a:avLst/>
          </a:prstGeom>
          <a:ln w="25400">
            <a:solidFill>
              <a:srgbClr val="E2E8F0"/>
            </a:solidFill>
          </a:ln>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2400" y="762066"/>
            <a:ext cx="4014361" cy="8416399"/>
          </a:xfrm>
          <a:prstGeom prst="rect">
            <a:avLst/>
          </a:prstGeom>
          <a:ln w="25400">
            <a:solidFill>
              <a:srgbClr val="E2E8F0"/>
            </a:solidFill>
          </a:ln>
        </p:spPr>
      </p:pic>
    </p:spTree>
    <p:extLst>
      <p:ext uri="{BB962C8B-B14F-4D97-AF65-F5344CB8AC3E}">
        <p14:creationId xmlns:p14="http://schemas.microsoft.com/office/powerpoint/2010/main" val="2540704771"/>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4030" y="495300"/>
            <a:ext cx="4289361" cy="8850854"/>
          </a:xfrm>
          <a:prstGeom prst="rect">
            <a:avLst/>
          </a:prstGeom>
          <a:ln w="25400">
            <a:solidFill>
              <a:srgbClr val="E2E8F0"/>
            </a:solidFill>
          </a:ln>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22280" y="495300"/>
            <a:ext cx="3832244" cy="8692342"/>
          </a:xfrm>
          <a:prstGeom prst="rect">
            <a:avLst/>
          </a:prstGeom>
          <a:ln w="25400">
            <a:solidFill>
              <a:srgbClr val="E2E8F0"/>
            </a:solidFill>
          </a:ln>
        </p:spPr>
      </p:pic>
    </p:spTree>
    <p:extLst>
      <p:ext uri="{BB962C8B-B14F-4D97-AF65-F5344CB8AC3E}">
        <p14:creationId xmlns:p14="http://schemas.microsoft.com/office/powerpoint/2010/main" val="3657537107"/>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4" name="Rectangle 3"/>
          <p:cNvSpPr/>
          <p:nvPr/>
        </p:nvSpPr>
        <p:spPr>
          <a:xfrm>
            <a:off x="3657600" y="3657600"/>
            <a:ext cx="10972800" cy="2971800"/>
          </a:xfrm>
          <a:prstGeom prst="rect">
            <a:avLst/>
          </a:prstGeom>
          <a:solidFill>
            <a:srgbClr val="15803D"/>
          </a:solidFill>
          <a:ln>
            <a:noFill/>
          </a:ln>
        </p:spPr>
        <p:txBody>
          <a:bodyPr wrap="square">
            <a:spAutoFit/>
          </a:bodyPr>
          <a:lstStyle/>
          <a:p>
            <a:pPr algn="ctr">
              <a:defRPr sz="3200" b="1">
                <a:solidFill>
                  <a:srgbClr val="FFFFFF"/>
                </a:solidFill>
                <a:latin typeface="Segoe UI"/>
              </a:defRPr>
            </a:pPr>
            <a:r>
              <a:rPr lang="fr-FR" altLang="en-US" sz="3200" b="1" dirty="0">
                <a:solidFill>
                  <a:srgbClr val="FFFFFF"/>
                </a:solidFill>
                <a:latin typeface="Segoe UI" panose="02020603050405020304" pitchFamily="18" charset="0"/>
                <a:cs typeface="Times New Roman" panose="02020603050405020304" pitchFamily="18" charset="0"/>
              </a:rPr>
              <a:t>DÉMONSTRATION</a:t>
            </a:r>
            <a:endParaRPr lang="fr-FR" sz="5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9664086"/>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11" name="Rectangle 10"/>
          <p:cNvSpPr/>
          <p:nvPr/>
        </p:nvSpPr>
        <p:spPr>
          <a:xfrm>
            <a:off x="365760" y="457200"/>
            <a:ext cx="109728" cy="9372600"/>
          </a:xfrm>
          <a:prstGeom prst="rect">
            <a:avLst/>
          </a:prstGeom>
          <a:solidFill>
            <a:srgbClr val="FFFFF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1E293B"/>
                </a:solidFill>
                <a:latin typeface="Segoe UI"/>
              </a:defRPr>
            </a:pPr>
          </a:p>
        </p:txBody>
      </p:sp>
      <p:nvGrpSpPr>
        <p:cNvPr id="1" name=""/>
        <p:cNvGrpSpPr/>
        <p:nvPr/>
      </p:nvGrpSpPr>
      <p:grpSpPr>
        <a:xfrm>
          <a:off x="0" y="0"/>
          <a:ext cx="0" cy="0"/>
          <a:chOff x="0" y="0"/>
          <a:chExt cx="0" cy="0"/>
        </a:xfrm>
      </p:grpSpPr>
      <p:sp>
        <p:nvSpPr>
          <p:cNvPr id="4" name="TextBox 41"/>
          <p:cNvSpPr txBox="1"/>
          <p:nvPr/>
        </p:nvSpPr>
        <p:spPr>
          <a:xfrm>
            <a:off x="6493638" y="402042"/>
            <a:ext cx="4936362" cy="538609"/>
          </a:xfrm>
          <a:prstGeom prst="rect">
            <a:avLst/>
          </a:prstGeom>
        </p:spPr>
        <p:txBody>
          <a:bodyPr wrap="square" lIns="0" tIns="0" rIns="0" bIns="0" rtlCol="0" anchor="t">
            <a:spAutoFit/>
          </a:bodyPr>
          <a:lstStyle/>
          <a:p>
            <a:pPr algn="ctr">
              <a:lnSpc>
                <a:spcPts val="4200"/>
              </a:lnSpc>
              <a:spcBef>
                <a:spcPct val="0"/>
              </a:spcBef>
              <a:defRPr sz="3200">
                <a:solidFill>
                  <a:srgbClr val="1E293B"/>
                </a:solidFill>
                <a:latin typeface="Segoe UI"/>
              </a:defRPr>
            </a:pPr>
            <a:r>
              <a:rPr lang="en-US" sz="3200" dirty="0">
                <a:solidFill>
                  <a:srgbClr val="1E293B"/>
                </a:solidFill>
                <a:latin typeface="Segoe UI"/>
                <a:ea typeface="Times New Roman MT Bold"/>
                <a:cs typeface="Times New Roman MT Bold"/>
                <a:sym typeface="Times New Roman MT Bold"/>
              </a:rPr>
              <a:t>LIMITES</a:t>
            </a:r>
          </a:p>
        </p:txBody>
      </p:sp>
      <p:sp>
        <p:nvSpPr>
          <p:cNvPr id="5" name="Rectangle 4"/>
          <p:cNvSpPr/>
          <p:nvPr/>
        </p:nvSpPr>
        <p:spPr>
          <a:xfrm>
            <a:off x="2277050" y="2299661"/>
            <a:ext cx="5981125" cy="630942"/>
          </a:xfrm>
          <a:prstGeom prst="rect">
            <a:avLst/>
          </a:prstGeom>
          <a:solidFill>
            <a:srgbClr val="FFFFFF"/>
          </a:solidFill>
          <a:ln w="25400">
            <a:solidFill>
              <a:srgbClr val="22C55E"/>
            </a:solidFill>
          </a:ln>
        </p:spPr>
        <p:txBody>
          <a:bodyPr wrap="none">
            <a:spAutoFit/>
          </a:bodyPr>
          <a:lstStyle/>
          <a:p>
            <a:pPr>
              <a:defRPr sz="3200">
                <a:solidFill>
                  <a:srgbClr val="1E293B"/>
                </a:solidFill>
                <a:latin typeface="Segoe UI"/>
              </a:defRPr>
            </a:pPr>
            <a:r>
              <a:rPr lang="fr-FR" sz="3200" dirty="0" smtClean="0">
                <a:solidFill>
                  <a:srgbClr val="1E293B"/>
                </a:solidFill>
                <a:latin typeface="Segoe UI" panose="02020603050405020304" pitchFamily="18" charset="0"/>
                <a:cs typeface="Times New Roman" panose="02020603050405020304" pitchFamily="18" charset="0"/>
              </a:rPr>
              <a:t> </a:t>
            </a:r>
            <a:r>
              <a:rPr lang="fr-FR" sz="3200" dirty="0">
                <a:solidFill>
                  <a:srgbClr val="1E293B"/>
                </a:solidFill>
                <a:latin typeface="Segoe UI" panose="02020603050405020304" pitchFamily="18" charset="0"/>
                <a:cs typeface="Times New Roman" panose="02020603050405020304" pitchFamily="18" charset="0"/>
              </a:rPr>
              <a:t>Paiement en ligne non intégré</a:t>
            </a:r>
          </a:p>
        </p:txBody>
      </p:sp>
      <p:sp>
        <p:nvSpPr>
          <p:cNvPr id="6" name="Rectangle 5"/>
          <p:cNvSpPr/>
          <p:nvPr/>
        </p:nvSpPr>
        <p:spPr>
          <a:xfrm>
            <a:off x="2495550" y="3065804"/>
            <a:ext cx="11220450" cy="1938992"/>
          </a:xfrm>
          <a:prstGeom prst="rect">
            <a:avLst/>
          </a:prstGeom>
          <a:solidFill>
            <a:srgbClr val="FFFFFF"/>
          </a:solidFill>
          <a:ln w="25400">
            <a:solidFill>
              <a:srgbClr val="22C55E"/>
            </a:solidFill>
          </a:ln>
        </p:spPr>
        <p:txBody>
          <a:bodyPr wrap="square">
            <a:spAutoFit/>
          </a:bodyPr>
          <a:lstStyle/>
          <a:p>
            <a:pP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La première version de l'application ne permet pas encore d'effectuer des paiements ou des réservations directement en ligne. Les transactions entre les utilisateurs restent donc en dehors de la plateforme.</a:t>
            </a:r>
          </a:p>
        </p:txBody>
      </p:sp>
      <p:sp>
        <p:nvSpPr>
          <p:cNvPr id="7" name="Rectangle 6"/>
          <p:cNvSpPr/>
          <p:nvPr/>
        </p:nvSpPr>
        <p:spPr>
          <a:xfrm>
            <a:off x="3760705" y="5740360"/>
            <a:ext cx="8994940" cy="630942"/>
          </a:xfrm>
          <a:prstGeom prst="rect">
            <a:avLst/>
          </a:prstGeom>
          <a:solidFill>
            <a:srgbClr val="FFFFFF"/>
          </a:solidFill>
          <a:ln w="25400">
            <a:solidFill>
              <a:srgbClr val="22C55E"/>
            </a:solidFill>
          </a:ln>
        </p:spPr>
        <p:txBody>
          <a:bodyPr wrap="square">
            <a:spAutoFit/>
          </a:bodyPr>
          <a:lstStyle/>
          <a:p>
            <a:pPr>
              <a:defRPr sz="3200">
                <a:solidFill>
                  <a:srgbClr val="1E293B"/>
                </a:solidFill>
                <a:latin typeface="Segoe UI"/>
              </a:defRPr>
            </a:pPr>
            <a:r>
              <a:rPr lang="fr-FR" sz="3200" dirty="0" smtClean="0">
                <a:solidFill>
                  <a:srgbClr val="1E293B"/>
                </a:solidFill>
                <a:latin typeface="Segoe UI" panose="02020603050405020304" pitchFamily="18" charset="0"/>
                <a:cs typeface="Times New Roman" panose="02020603050405020304" pitchFamily="18" charset="0"/>
              </a:rPr>
              <a:t>Déploiement </a:t>
            </a:r>
            <a:r>
              <a:rPr lang="fr-FR" sz="3200" dirty="0">
                <a:solidFill>
                  <a:srgbClr val="1E293B"/>
                </a:solidFill>
                <a:latin typeface="Segoe UI" panose="02020603050405020304" pitchFamily="18" charset="0"/>
                <a:cs typeface="Times New Roman" panose="02020603050405020304" pitchFamily="18" charset="0"/>
              </a:rPr>
              <a:t>limité à un environnement local</a:t>
            </a:r>
          </a:p>
        </p:txBody>
      </p:sp>
      <p:sp>
        <p:nvSpPr>
          <p:cNvPr id="8" name="Rectangle 7"/>
          <p:cNvSpPr/>
          <p:nvPr/>
        </p:nvSpPr>
        <p:spPr>
          <a:xfrm>
            <a:off x="4381500" y="6687235"/>
            <a:ext cx="10001250" cy="1477328"/>
          </a:xfrm>
          <a:prstGeom prst="rect">
            <a:avLst/>
          </a:prstGeom>
          <a:solidFill>
            <a:srgbClr val="FFFFFF"/>
          </a:solidFill>
          <a:ln w="25400">
            <a:solidFill>
              <a:srgbClr val="22C55E"/>
            </a:solidFill>
          </a:ln>
        </p:spPr>
        <p:txBody>
          <a:bodyPr wrap="square">
            <a:spAutoFit/>
          </a:bodyPr>
          <a:lstStyle/>
          <a:p>
            <a:pP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L'application a été développée et testée dans un environnement local. Elle n'a pas encore été déployée sur un serveur de production accessible au grand public.</a:t>
            </a:r>
          </a:p>
        </p:txBody>
      </p:sp>
      <p:pic>
        <p:nvPicPr>
          <p:cNvPr id="9" name="Imag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0181" y="2222047"/>
            <a:ext cx="966869" cy="1041244"/>
          </a:xfrm>
          <a:prstGeom prst="rect">
            <a:avLst/>
          </a:prstGeom>
          <a:ln w="25400">
            <a:solidFill>
              <a:srgbClr val="E2E8F0"/>
            </a:solidFill>
          </a:ln>
        </p:spPr>
      </p:pic>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7050" y="5539313"/>
            <a:ext cx="1319213" cy="1033035"/>
          </a:xfrm>
          <a:prstGeom prst="rect">
            <a:avLst/>
          </a:prstGeom>
          <a:ln w="25400">
            <a:solidFill>
              <a:srgbClr val="E2E8F0"/>
            </a:solidFill>
          </a:ln>
        </p:spPr>
      </p:pic>
    </p:spTree>
    <p:extLst>
      <p:ext uri="{BB962C8B-B14F-4D97-AF65-F5344CB8AC3E}">
        <p14:creationId xmlns:p14="http://schemas.microsoft.com/office/powerpoint/2010/main" val="2774104906"/>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11" name="Rectangle 10"/>
          <p:cNvSpPr/>
          <p:nvPr/>
        </p:nvSpPr>
        <p:spPr>
          <a:xfrm>
            <a:off x="365760" y="457200"/>
            <a:ext cx="109728" cy="93726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nvGrpSpPr>
        <p:cNvPr id="1" name=""/>
        <p:cNvGrpSpPr/>
        <p:nvPr/>
      </p:nvGrpSpPr>
      <p:grpSpPr>
        <a:xfrm>
          <a:off x="0" y="0"/>
          <a:ext cx="0" cy="0"/>
          <a:chOff x="0" y="0"/>
          <a:chExt cx="0" cy="0"/>
        </a:xfrm>
      </p:grpSpPr>
      <p:sp>
        <p:nvSpPr>
          <p:cNvPr id="4" name="TextBox 40"/>
          <p:cNvSpPr txBox="1"/>
          <p:nvPr/>
        </p:nvSpPr>
        <p:spPr>
          <a:xfrm>
            <a:off x="-154812" y="4378970"/>
            <a:ext cx="7851012" cy="538609"/>
          </a:xfrm>
          <a:prstGeom prst="rect">
            <a:avLst/>
          </a:prstGeom>
        </p:spPr>
        <p:txBody>
          <a:bodyPr wrap="square" lIns="0" tIns="0" rIns="0" bIns="0" rtlCol="0" anchor="t">
            <a:spAutoFit/>
          </a:bodyPr>
          <a:lstStyle/>
          <a:p>
            <a:pPr algn="ctr">
              <a:lnSpc>
                <a:spcPts val="4200"/>
              </a:lnSpc>
              <a:spcBef>
                <a:spcPct val="0"/>
              </a:spcBef>
            </a:pPr>
            <a:r>
              <a:rPr lang="en-US" sz="5000" b="1" dirty="0">
                <a:solidFill>
                  <a:srgbClr val="000000"/>
                </a:solidFill>
                <a:latin typeface="Times New Roman MT Bold"/>
                <a:ea typeface="Times New Roman MT Bold"/>
                <a:cs typeface="Times New Roman MT Bold"/>
                <a:sym typeface="Times New Roman MT Bold"/>
              </a:rPr>
              <a:t>PERSPECTIVES</a:t>
            </a:r>
          </a:p>
        </p:txBody>
      </p:sp>
      <p:sp>
        <p:nvSpPr>
          <p:cNvPr id="8" name="Rectangle 7"/>
          <p:cNvSpPr/>
          <p:nvPr/>
        </p:nvSpPr>
        <p:spPr>
          <a:xfrm>
            <a:off x="9601200" y="4297680"/>
            <a:ext cx="7772400" cy="2377440"/>
          </a:xfrm>
          <a:prstGeom prst="rect">
            <a:avLst/>
          </a:prstGeom>
          <a:solidFill>
            <a:srgbClr val="FFFFFF"/>
          </a:solidFill>
          <a:ln w="25400">
            <a:solidFill>
              <a:srgbClr val="22C55E"/>
            </a:solidFill>
          </a:ln>
        </p:spPr>
        <p:txBody>
          <a:bodyPr>
            <a:spAutoFit/>
          </a:bodyPr>
          <a:lstStyle/>
          <a:p>
            <a:pPr>
              <a:defRPr sz="3200">
                <a:solidFill>
                  <a:srgbClr val="1E293B"/>
                </a:solidFill>
                <a:latin typeface="Segoe UI"/>
              </a:defRPr>
            </a:pPr>
            <a:r>
              <a:rPr lang="fr-FR" sz="3200" dirty="0" smtClean="0">
                <a:solidFill>
                  <a:srgbClr val="1E293B"/>
                </a:solidFill>
                <a:latin typeface="Segoe UI" panose="02020603050405020304" pitchFamily="18" charset="0"/>
                <a:cs typeface="Times New Roman" panose="02020603050405020304" pitchFamily="18" charset="0"/>
              </a:rPr>
              <a:t>À </a:t>
            </a:r>
            <a:r>
              <a:rPr lang="fr-FR" sz="3200" dirty="0">
                <a:solidFill>
                  <a:srgbClr val="1E293B"/>
                </a:solidFill>
                <a:latin typeface="Segoe UI" panose="02020603050405020304" pitchFamily="18" charset="0"/>
                <a:cs typeface="Times New Roman" panose="02020603050405020304" pitchFamily="18" charset="0"/>
              </a:rPr>
              <a:t>court </a:t>
            </a:r>
            <a:r>
              <a:rPr lang="fr-FR" sz="3200" dirty="0" smtClean="0">
                <a:solidFill>
                  <a:srgbClr val="1E293B"/>
                </a:solidFill>
                <a:latin typeface="Segoe UI" panose="02020603050405020304" pitchFamily="18" charset="0"/>
                <a:cs typeface="Times New Roman" panose="02020603050405020304" pitchFamily="18" charset="0"/>
              </a:rPr>
              <a:t>terme</a:t>
            </a:r>
          </a:p>
          <a:p>
            <a:pPr>
              <a:defRPr sz="2000">
                <a:solidFill>
                  <a:srgbClr val="1E293B"/>
                </a:solidFill>
                <a:latin typeface="Segoe UI"/>
              </a:defRPr>
            </a:pPr>
            <a:endParaRPr lang="fr-FR" sz="3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Déployer l'application en production. </a:t>
            </a:r>
          </a:p>
          <a:p>
            <a:pPr>
              <a:buFont typeface="Arial" panose="020B0604020202020204" pitchFamily="34" charset="0"/>
              <a:buChar cha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Améliorer les notifications des utilisateurs.</a:t>
            </a:r>
          </a:p>
        </p:txBody>
      </p:sp>
      <p:sp>
        <p:nvSpPr>
          <p:cNvPr id="9" name="Rectangle 8"/>
          <p:cNvSpPr/>
          <p:nvPr/>
        </p:nvSpPr>
        <p:spPr>
          <a:xfrm>
            <a:off x="9601200" y="6949440"/>
            <a:ext cx="7772400" cy="2377440"/>
          </a:xfrm>
          <a:prstGeom prst="rect">
            <a:avLst/>
          </a:prstGeom>
          <a:solidFill>
            <a:srgbClr val="FFFFFF"/>
          </a:solidFill>
          <a:ln w="25400">
            <a:solidFill>
              <a:srgbClr val="22C55E"/>
            </a:solidFill>
          </a:ln>
        </p:spPr>
        <p:txBody>
          <a:bodyPr>
            <a:spAutoFit/>
          </a:bodyPr>
          <a:lstStyle/>
          <a:p>
            <a:pP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À moyen </a:t>
            </a:r>
            <a:r>
              <a:rPr lang="fr-FR" sz="3200" dirty="0" smtClean="0">
                <a:solidFill>
                  <a:srgbClr val="1E293B"/>
                </a:solidFill>
                <a:latin typeface="Segoe UI" panose="02020603050405020304" pitchFamily="18" charset="0"/>
                <a:cs typeface="Times New Roman" panose="02020603050405020304" pitchFamily="18" charset="0"/>
              </a:rPr>
              <a:t>terme</a:t>
            </a:r>
          </a:p>
          <a:p>
            <a:pPr>
              <a:defRPr sz="2000">
                <a:solidFill>
                  <a:srgbClr val="1E293B"/>
                </a:solidFill>
                <a:latin typeface="Segoe UI"/>
              </a:defRPr>
            </a:pPr>
            <a:endParaRPr lang="fr-FR" sz="3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Intégrer les paiements Mobile Money. </a:t>
            </a:r>
          </a:p>
          <a:p>
            <a:pPr>
              <a:buFont typeface="Arial" panose="020B0604020202020204" pitchFamily="34" charset="0"/>
              <a:buChar cha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Renforcer les fonctionnalités de géolocalisation.</a:t>
            </a:r>
          </a:p>
        </p:txBody>
      </p:sp>
      <p:sp>
        <p:nvSpPr>
          <p:cNvPr id="10" name="Rectangle 9"/>
          <p:cNvSpPr/>
          <p:nvPr/>
        </p:nvSpPr>
        <p:spPr>
          <a:xfrm>
            <a:off x="9601200" y="9601200"/>
            <a:ext cx="7772400" cy="2377440"/>
          </a:xfrm>
          <a:prstGeom prst="rect">
            <a:avLst/>
          </a:prstGeom>
          <a:solidFill>
            <a:srgbClr val="FFFFFF"/>
          </a:solidFill>
          <a:ln w="25400">
            <a:solidFill>
              <a:srgbClr val="22C55E"/>
            </a:solidFill>
          </a:ln>
        </p:spPr>
        <p:txBody>
          <a:bodyPr wrap="square">
            <a:spAutoFit/>
          </a:bodyPr>
          <a:lstStyle/>
          <a:p>
            <a:pPr>
              <a:defRPr sz="3200">
                <a:solidFill>
                  <a:srgbClr val="1E293B"/>
                </a:solidFill>
                <a:latin typeface="Segoe UI"/>
              </a:defRPr>
            </a:pPr>
            <a:r>
              <a:rPr lang="fr-FR" sz="3200" dirty="0" smtClean="0">
                <a:solidFill>
                  <a:srgbClr val="1E293B"/>
                </a:solidFill>
                <a:latin typeface="Segoe UI" panose="02020603050405020304" pitchFamily="18" charset="0"/>
                <a:cs typeface="Times New Roman" panose="02020603050405020304" pitchFamily="18" charset="0"/>
              </a:rPr>
              <a:t>À </a:t>
            </a:r>
            <a:r>
              <a:rPr lang="fr-FR" sz="3200" dirty="0">
                <a:solidFill>
                  <a:srgbClr val="1E293B"/>
                </a:solidFill>
                <a:latin typeface="Segoe UI" panose="02020603050405020304" pitchFamily="18" charset="0"/>
                <a:cs typeface="Times New Roman" panose="02020603050405020304" pitchFamily="18" charset="0"/>
              </a:rPr>
              <a:t>long </a:t>
            </a:r>
            <a:r>
              <a:rPr lang="fr-FR" sz="3200" dirty="0" smtClean="0">
                <a:solidFill>
                  <a:srgbClr val="1E293B"/>
                </a:solidFill>
                <a:latin typeface="Segoe UI" panose="02020603050405020304" pitchFamily="18" charset="0"/>
                <a:cs typeface="Times New Roman" panose="02020603050405020304" pitchFamily="18" charset="0"/>
              </a:rPr>
              <a:t>terme</a:t>
            </a:r>
          </a:p>
          <a:p>
            <a:pPr>
              <a:defRPr sz="2000">
                <a:solidFill>
                  <a:srgbClr val="1E293B"/>
                </a:solidFill>
                <a:latin typeface="Segoe UI"/>
              </a:defRPr>
            </a:pPr>
            <a:endParaRPr lang="fr-FR" sz="3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Intégrer des fonctionnalités d'intelligence artificielle. </a:t>
            </a:r>
          </a:p>
          <a:p>
            <a:pPr>
              <a:buFont typeface="Arial" panose="020B0604020202020204" pitchFamily="34" charset="0"/>
              <a:buChar cha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Automatiser la publication et la gestion des annonces.</a:t>
            </a:r>
          </a:p>
        </p:txBody>
      </p:sp>
    </p:spTree>
    <p:extLst>
      <p:ext uri="{BB962C8B-B14F-4D97-AF65-F5344CB8AC3E}">
        <p14:creationId xmlns:p14="http://schemas.microsoft.com/office/powerpoint/2010/main" val="1587173265"/>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sp>
        <p:nvSpPr>
          <p:cNvPr id="6" name="Rectangle 5"/>
          <p:cNvSpPr/>
          <p:nvPr/>
        </p:nvSpPr>
        <p:spPr>
          <a:xfrm>
            <a:off x="365760" y="457200"/>
            <a:ext cx="109728" cy="9372600"/>
          </a:xfrm>
          <a:prstGeom prst="rect">
            <a:avLst/>
          </a:prstGeom>
          <a:solidFill>
            <a:srgbClr val="FFFFFF"/>
          </a:solidFill>
          <a:ln w="2540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a:solidFill>
                  <a:srgbClr val="1E293B"/>
                </a:solidFill>
                <a:latin typeface="Segoe UI"/>
              </a:defRPr>
            </a:pPr>
          </a:p>
        </p:txBody>
      </p:sp>
      <p:nvGrpSpPr>
        <p:cNvPr id="1" name=""/>
        <p:cNvGrpSpPr/>
        <p:nvPr/>
      </p:nvGrpSpPr>
      <p:grpSpPr>
        <a:xfrm>
          <a:off x="0" y="0"/>
          <a:ext cx="0" cy="0"/>
          <a:chOff x="0" y="0"/>
          <a:chExt cx="0" cy="0"/>
        </a:xfrm>
      </p:grpSpPr>
      <p:sp>
        <p:nvSpPr>
          <p:cNvPr id="4" name="TextBox 7"/>
          <p:cNvSpPr txBox="1"/>
          <p:nvPr/>
        </p:nvSpPr>
        <p:spPr>
          <a:xfrm>
            <a:off x="6686330" y="115235"/>
            <a:ext cx="4667470" cy="854721"/>
          </a:xfrm>
          <a:prstGeom prst="rect">
            <a:avLst/>
          </a:prstGeom>
        </p:spPr>
        <p:txBody>
          <a:bodyPr wrap="square" lIns="0" tIns="0" rIns="0" bIns="0" rtlCol="0" anchor="t">
            <a:spAutoFit/>
          </a:bodyPr>
          <a:lstStyle/>
          <a:p>
            <a:pPr algn="ctr">
              <a:lnSpc>
                <a:spcPts val="7000"/>
              </a:lnSpc>
              <a:defRPr sz="3200">
                <a:solidFill>
                  <a:srgbClr val="1E293B"/>
                </a:solidFill>
                <a:latin typeface="Segoe UI"/>
              </a:defRPr>
            </a:pPr>
            <a:r>
              <a:rPr lang="en-US" sz="3200" dirty="0">
                <a:solidFill>
                  <a:srgbClr val="1E293B"/>
                </a:solidFill>
                <a:latin typeface="Segoe UI"/>
                <a:ea typeface="Times New Roman MT Bold"/>
                <a:cs typeface="Times New Roman MT Bold"/>
                <a:sym typeface="Times New Roman MT Bold"/>
              </a:rPr>
              <a:t>CONCLUSION</a:t>
            </a:r>
          </a:p>
        </p:txBody>
      </p:sp>
      <p:sp>
        <p:nvSpPr>
          <p:cNvPr id="5" name="Rectangle 4"/>
          <p:cNvSpPr/>
          <p:nvPr/>
        </p:nvSpPr>
        <p:spPr>
          <a:xfrm>
            <a:off x="1619250" y="2309336"/>
            <a:ext cx="15011400" cy="5216813"/>
          </a:xfrm>
          <a:prstGeom prst="rect">
            <a:avLst/>
          </a:prstGeom>
          <a:solidFill>
            <a:srgbClr val="FFFFFF"/>
          </a:solidFill>
          <a:ln w="25400">
            <a:solidFill>
              <a:srgbClr val="22C55E"/>
            </a:solidFill>
          </a:ln>
        </p:spPr>
        <p:txBody>
          <a:bodyPr wrap="square">
            <a:spAutoFit/>
          </a:bodyPr>
          <a:lstStyle/>
          <a:p>
            <a:pP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Le développement de l'application </a:t>
            </a:r>
            <a:r>
              <a:rPr lang="fr-FR" sz="3200" dirty="0" err="1">
                <a:solidFill>
                  <a:srgbClr val="1E293B"/>
                </a:solidFill>
                <a:latin typeface="Segoe UI" panose="02020603050405020304" pitchFamily="18" charset="0"/>
                <a:cs typeface="Times New Roman" panose="02020603050405020304" pitchFamily="18" charset="0"/>
              </a:rPr>
              <a:t>AttouHome</a:t>
            </a:r>
            <a:r>
              <a:rPr lang="fr-FR" sz="3200" dirty="0">
                <a:solidFill>
                  <a:srgbClr val="1E293B"/>
                </a:solidFill>
                <a:latin typeface="Segoe UI" panose="02020603050405020304" pitchFamily="18" charset="0"/>
                <a:cs typeface="Times New Roman" panose="02020603050405020304" pitchFamily="18" charset="0"/>
              </a:rPr>
              <a:t> a permis de </a:t>
            </a:r>
            <a:r>
              <a:rPr lang="fr-FR" sz="3200" dirty="0" smtClean="0">
                <a:solidFill>
                  <a:srgbClr val="1E293B"/>
                </a:solidFill>
                <a:latin typeface="Segoe UI" panose="02020603050405020304" pitchFamily="18" charset="0"/>
                <a:cs typeface="Times New Roman" panose="02020603050405020304" pitchFamily="18" charset="0"/>
              </a:rPr>
              <a:t>:</a:t>
            </a:r>
          </a:p>
          <a:p>
            <a:pPr>
              <a:defRPr sz="2000">
                <a:solidFill>
                  <a:srgbClr val="1E293B"/>
                </a:solidFill>
                <a:latin typeface="Segoe UI"/>
              </a:defRPr>
            </a:pPr>
            <a:endParaRPr lang="fr-FR" sz="3300" dirty="0">
              <a:latin typeface="Times New Roman" panose="02020603050405020304" pitchFamily="18" charset="0"/>
              <a:cs typeface="Times New Roman" panose="02020603050405020304" pitchFamily="18" charset="0"/>
            </a:endParaRPr>
          </a:p>
          <a:p>
            <a:pP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 </a:t>
            </a:r>
            <a:r>
              <a:rPr lang="fr-FR" sz="3200" dirty="0">
                <a:solidFill>
                  <a:srgbClr val="1E293B"/>
                </a:solidFill>
                <a:latin typeface="Segoe UI" panose="02020603050405020304" pitchFamily="18" charset="0"/>
                <a:cs typeface="Times New Roman" panose="02020603050405020304" pitchFamily="18" charset="0"/>
              </a:rPr>
              <a:t>Centraliser</a:t>
            </a:r>
            <a:r>
              <a:rPr lang="fr-FR" sz="3200" dirty="0">
                <a:solidFill>
                  <a:srgbClr val="1E293B"/>
                </a:solidFill>
                <a:latin typeface="Segoe UI" panose="02020603050405020304" pitchFamily="18" charset="0"/>
                <a:cs typeface="Times New Roman" panose="02020603050405020304" pitchFamily="18" charset="0"/>
              </a:rPr>
              <a:t> les annonces immobilières sur une plateforme unique</a:t>
            </a:r>
            <a:r>
              <a:rPr lang="fr-FR" sz="3200" dirty="0" smtClean="0">
                <a:solidFill>
                  <a:srgbClr val="1E293B"/>
                </a:solidFill>
                <a:latin typeface="Segoe UI" panose="02020603050405020304" pitchFamily="18" charset="0"/>
                <a:cs typeface="Times New Roman" panose="02020603050405020304" pitchFamily="18" charset="0"/>
              </a:rPr>
              <a:t>.</a:t>
            </a:r>
          </a:p>
          <a:p>
            <a:pPr>
              <a:defRPr sz="2000">
                <a:solidFill>
                  <a:srgbClr val="1E293B"/>
                </a:solidFill>
                <a:latin typeface="Segoe UI"/>
              </a:defRPr>
            </a:pPr>
            <a:endParaRPr lang="fr-FR" sz="3300" dirty="0">
              <a:latin typeface="Times New Roman" panose="02020603050405020304" pitchFamily="18" charset="0"/>
              <a:cs typeface="Times New Roman" panose="02020603050405020304" pitchFamily="18" charset="0"/>
            </a:endParaRPr>
          </a:p>
          <a:p>
            <a:pPr>
              <a:defRPr sz="3200">
                <a:solidFill>
                  <a:srgbClr val="1E293B"/>
                </a:solidFill>
                <a:latin typeface="Segoe UI"/>
              </a:defRPr>
            </a:pPr>
            <a:r>
              <a:rPr lang="fr-FR" sz="3200" dirty="0" smtClean="0">
                <a:solidFill>
                  <a:srgbClr val="1E293B"/>
                </a:solidFill>
                <a:latin typeface="Segoe UI" panose="02020603050405020304" pitchFamily="18" charset="0"/>
                <a:cs typeface="Times New Roman" panose="02020603050405020304" pitchFamily="18" charset="0"/>
              </a:rPr>
              <a:t>👥 </a:t>
            </a:r>
            <a:r>
              <a:rPr lang="fr-FR" sz="3200" dirty="0">
                <a:solidFill>
                  <a:srgbClr val="1E293B"/>
                </a:solidFill>
                <a:latin typeface="Segoe UI" panose="02020603050405020304" pitchFamily="18" charset="0"/>
                <a:cs typeface="Times New Roman" panose="02020603050405020304" pitchFamily="18" charset="0"/>
              </a:rPr>
              <a:t>Faciliter</a:t>
            </a:r>
            <a:r>
              <a:rPr lang="fr-FR" sz="3200" dirty="0">
                <a:solidFill>
                  <a:srgbClr val="1E293B"/>
                </a:solidFill>
                <a:latin typeface="Segoe UI" panose="02020603050405020304" pitchFamily="18" charset="0"/>
                <a:cs typeface="Times New Roman" panose="02020603050405020304" pitchFamily="18" charset="0"/>
              </a:rPr>
              <a:t> la mise en relation entre locataires, propriétaires et administrateurs</a:t>
            </a:r>
            <a:r>
              <a:rPr lang="fr-FR" sz="3200" dirty="0" smtClean="0">
                <a:solidFill>
                  <a:srgbClr val="1E293B"/>
                </a:solidFill>
                <a:latin typeface="Segoe UI" panose="02020603050405020304" pitchFamily="18" charset="0"/>
                <a:cs typeface="Times New Roman" panose="02020603050405020304" pitchFamily="18" charset="0"/>
              </a:rPr>
              <a:t>.</a:t>
            </a:r>
          </a:p>
          <a:p>
            <a:pPr>
              <a:defRPr sz="2000">
                <a:solidFill>
                  <a:srgbClr val="1E293B"/>
                </a:solidFill>
                <a:latin typeface="Segoe UI"/>
              </a:defRPr>
            </a:pPr>
            <a:endParaRPr lang="fr-FR" sz="3300" dirty="0">
              <a:latin typeface="Times New Roman" panose="02020603050405020304" pitchFamily="18" charset="0"/>
              <a:cs typeface="Times New Roman" panose="02020603050405020304" pitchFamily="18" charset="0"/>
            </a:endParaRPr>
          </a:p>
          <a:p>
            <a:pP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 </a:t>
            </a:r>
            <a:r>
              <a:rPr lang="fr-FR" sz="3200" dirty="0">
                <a:solidFill>
                  <a:srgbClr val="1E293B"/>
                </a:solidFill>
                <a:latin typeface="Segoe UI" panose="02020603050405020304" pitchFamily="18" charset="0"/>
                <a:cs typeface="Times New Roman" panose="02020603050405020304" pitchFamily="18" charset="0"/>
              </a:rPr>
              <a:t>Simplifier</a:t>
            </a:r>
            <a:r>
              <a:rPr lang="fr-FR" sz="3200" dirty="0">
                <a:solidFill>
                  <a:srgbClr val="1E293B"/>
                </a:solidFill>
                <a:latin typeface="Segoe UI" panose="02020603050405020304" pitchFamily="18" charset="0"/>
                <a:cs typeface="Times New Roman" panose="02020603050405020304" pitchFamily="18" charset="0"/>
              </a:rPr>
              <a:t> la recherche de logements et la gestion des demandes de visite</a:t>
            </a:r>
            <a:r>
              <a:rPr lang="fr-FR" sz="3200" dirty="0" smtClean="0">
                <a:solidFill>
                  <a:srgbClr val="1E293B"/>
                </a:solidFill>
                <a:latin typeface="Segoe UI" panose="02020603050405020304" pitchFamily="18" charset="0"/>
                <a:cs typeface="Times New Roman" panose="02020603050405020304" pitchFamily="18" charset="0"/>
              </a:rPr>
              <a:t>.</a:t>
            </a:r>
          </a:p>
          <a:p>
            <a:pPr>
              <a:defRPr sz="2000">
                <a:solidFill>
                  <a:srgbClr val="1E293B"/>
                </a:solidFill>
                <a:latin typeface="Segoe UI"/>
              </a:defRPr>
            </a:pPr>
            <a:endParaRPr lang="fr-FR" sz="3300" dirty="0">
              <a:latin typeface="Times New Roman" panose="02020603050405020304" pitchFamily="18" charset="0"/>
              <a:cs typeface="Times New Roman" panose="02020603050405020304" pitchFamily="18" charset="0"/>
            </a:endParaRPr>
          </a:p>
          <a:p>
            <a:pPr>
              <a:defRPr sz="3200">
                <a:solidFill>
                  <a:srgbClr val="1E293B"/>
                </a:solidFill>
                <a:latin typeface="Segoe UI"/>
              </a:defRPr>
            </a:pPr>
            <a:r>
              <a:rPr lang="fr-FR" sz="3200" dirty="0">
                <a:solidFill>
                  <a:srgbClr val="1E293B"/>
                </a:solidFill>
                <a:latin typeface="Segoe UI" panose="02020603050405020304" pitchFamily="18" charset="0"/>
                <a:cs typeface="Times New Roman" panose="02020603050405020304" pitchFamily="18" charset="0"/>
              </a:rPr>
              <a:t>🔒 </a:t>
            </a:r>
            <a:r>
              <a:rPr lang="fr-FR" sz="3200" dirty="0">
                <a:solidFill>
                  <a:srgbClr val="1E293B"/>
                </a:solidFill>
                <a:latin typeface="Segoe UI" panose="02020603050405020304" pitchFamily="18" charset="0"/>
                <a:cs typeface="Times New Roman" panose="02020603050405020304" pitchFamily="18" charset="0"/>
              </a:rPr>
              <a:t>Moderniser</a:t>
            </a:r>
            <a:r>
              <a:rPr lang="fr-FR" sz="3200" dirty="0">
                <a:solidFill>
                  <a:srgbClr val="1E293B"/>
                </a:solidFill>
                <a:latin typeface="Segoe UI" panose="02020603050405020304" pitchFamily="18" charset="0"/>
                <a:cs typeface="Times New Roman" panose="02020603050405020304" pitchFamily="18" charset="0"/>
              </a:rPr>
              <a:t> la gestion des annonces grâce à une solution web et mobile sécurisée</a:t>
            </a:r>
            <a:r>
              <a:rPr lang="fr-FR" sz="3200" dirty="0" smtClean="0">
                <a:solidFill>
                  <a:srgbClr val="1E293B"/>
                </a:solidFill>
                <a:latin typeface="Segoe UI" panose="02020603050405020304" pitchFamily="18" charset="0"/>
                <a:cs typeface="Times New Roman" panose="02020603050405020304" pitchFamily="18" charset="0"/>
              </a:rPr>
              <a:t>.</a:t>
            </a:r>
          </a:p>
          <a:p>
            <a:pPr>
              <a:defRPr sz="2000">
                <a:solidFill>
                  <a:srgbClr val="1E293B"/>
                </a:solidFill>
                <a:latin typeface="Segoe UI"/>
              </a:defRPr>
            </a:pPr>
            <a:endParaRPr lang="fr-FR" sz="3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7267809"/>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DF4"/>
        </a:solidFill>
        <a:effectLst/>
      </p:bgPr>
    </p:bg>
    <p:spTree>
      <p:nvGrpSpPr>
        <p:cNvPr id="1" name=""/>
        <p:cNvGrpSpPr/>
        <p:nvPr/>
      </p:nvGrpSpPr>
      <p:grpSpPr>
        <a:xfrm>
          <a:off x="0" y="0"/>
          <a:ext cx="0" cy="0"/>
          <a:chOff x="0" y="0"/>
          <a:chExt cx="0" cy="0"/>
        </a:xfrm>
      </p:grpSpPr>
      <p:sp>
        <p:nvSpPr>
          <p:cNvPr id="4" name="TextBox 2"/>
          <p:cNvSpPr txBox="1"/>
          <p:nvPr/>
        </p:nvSpPr>
        <p:spPr>
          <a:xfrm>
            <a:off x="1828800" y="3657600"/>
            <a:ext cx="14630400" cy="2971800"/>
          </a:xfrm>
          <a:prstGeom prst="rect">
            <a:avLst/>
          </a:prstGeom>
        </p:spPr>
        <p:txBody>
          <a:bodyPr lIns="0" tIns="0" rIns="0" bIns="0" rtlCol="0" anchor="t">
            <a:spAutoFit/>
          </a:bodyPr>
          <a:lstStyle/>
          <a:p>
            <a:pPr marL="0" lvl="0" indent="0" algn="ctr">
              <a:lnSpc>
                <a:spcPts val="5500"/>
              </a:lnSpc>
              <a:spcBef>
                <a:spcPct val="0"/>
              </a:spcBef>
              <a:defRPr sz="3200" b="1">
                <a:solidFill>
                  <a:srgbClr val="FFFFFF"/>
                </a:solidFill>
                <a:latin typeface="Segoe UI"/>
              </a:defRPr>
            </a:pPr>
            <a:r>
              <a:rPr lang="en-US" sz="3200" b="1" u="none" dirty="0">
                <a:solidFill>
                  <a:srgbClr val="FFFFFF"/>
                </a:solidFill>
                <a:latin typeface="Segoe UI"/>
                <a:ea typeface="Times New Roman MT Semi-Bold"/>
                <a:cs typeface="Times New Roman MT Semi-Bold"/>
                <a:sym typeface="Times New Roman MT Semi-Bold"/>
              </a:rPr>
              <a:t>MERCI POUR VOTRE ATTENTION !</a:t>
            </a:r>
          </a:p>
        </p:txBody>
      </p:sp>
    </p:spTree>
    <p:extLst>
      <p:ext uri="{BB962C8B-B14F-4D97-AF65-F5344CB8AC3E}">
        <p14:creationId xmlns:p14="http://schemas.microsoft.com/office/powerpoint/2010/main" val="2811130486"/>
      </p:ext>
    </p:extLst>
  </p:cSld>
  <mc:AlternateContent xmlns:mc="http://schemas.openxmlformats.org/markup-compatibility/2006">
    <mc:Choice xmlns:p14="http://schemas.microsoft.com/office/powerpoint/2010/main" Requires="p14">
      <p:transition spd="slow">
        <p:fade/>
      </p:transition>
    </mc:Choice>
    <mc:Fallback>
      <p:transition spd="slow">
        <p:fade/>
      </p:transition>
    </mc:Fallback>
  </mc:AlternateContent>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164</TotalTime>
  <Words>726</Words>
  <Application>Microsoft Office PowerPoint</Application>
  <PresentationFormat>Personnalisé</PresentationFormat>
  <Paragraphs>84</Paragraphs>
  <Slides>19</Slides>
  <Notes>0</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19</vt:i4>
      </vt:variant>
    </vt:vector>
  </HeadingPairs>
  <TitlesOfParts>
    <vt:vector size="28" baseType="lpstr">
      <vt:lpstr>Arial</vt:lpstr>
      <vt:lpstr>Calibri</vt:lpstr>
      <vt:lpstr>Calibri Light</vt:lpstr>
      <vt:lpstr>Times New Roman</vt:lpstr>
      <vt:lpstr>Times New Roman Bold</vt:lpstr>
      <vt:lpstr>Times New Roman MT</vt:lpstr>
      <vt:lpstr>Times New Roman MT Bold</vt:lpstr>
      <vt:lpstr>Times New Roman MT Semi-Bold</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KT156S</dc:creator>
  <cp:lastModifiedBy>KT156S</cp:lastModifiedBy>
  <cp:revision>17</cp:revision>
  <dcterms:created xsi:type="dcterms:W3CDTF">2026-07-08T09:48:34Z</dcterms:created>
  <dcterms:modified xsi:type="dcterms:W3CDTF">2026-07-08T12:33:12Z</dcterms:modified>
</cp:coreProperties>
</file>