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97316"/>
                </a:solidFill>
                <a:latin typeface="Calibri"/>
              </a:defRPr>
            </a:pPr>
            <a:r>
              <a:t>ATTOUHOME</a:t>
            </a:r>
          </a:p>
          <a:p>
            <a:pPr>
              <a:spcBef>
                <a:spcPts val="1000"/>
              </a:spcBef>
              <a:defRPr sz="5400" b="1">
                <a:solidFill>
                  <a:srgbClr val="F8FAFC"/>
                </a:solidFill>
                <a:latin typeface="Calibri"/>
              </a:defRPr>
            </a:pPr>
            <a:r>
              <a:t>Évolution de l'Application</a:t>
            </a:r>
          </a:p>
          <a:p>
            <a:pPr>
              <a:spcBef>
                <a:spcPts val="1500"/>
              </a:spcBef>
              <a:defRPr sz="1800">
                <a:solidFill>
                  <a:srgbClr val="64748B"/>
                </a:solidFill>
                <a:latin typeface="Calibri"/>
              </a:defRPr>
            </a:pPr>
            <a:r>
              <a:t>Récapitulatif des nouvelles fonctionnalités et optimisations implémentées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Calibri"/>
              </a:defRPr>
            </a:pPr>
            <a:r>
              <a:t>Demandes de Visite &amp; Profil</a:t>
            </a:r>
          </a:p>
          <a:p>
            <a:pPr>
              <a:spcBef>
                <a:spcPts val="400"/>
              </a:spcBef>
              <a:defRPr sz="1600">
                <a:solidFill>
                  <a:srgbClr val="64748B"/>
                </a:solidFill>
                <a:latin typeface="Calibri"/>
              </a:defRPr>
            </a:pPr>
            <a:r>
              <a:t>Améliorations UX et règles de gestion des interactions locataires/propriétaires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97316"/>
                </a:solidFill>
                <a:latin typeface="Calibri"/>
              </a:defRPr>
            </a:pPr>
            <a:r>
              <a:t>Flux des Demandes de Visite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Limite de demande unique : Un locataire ne peut pas faire deux demandes de visite actives pour un même bien, évitant les doublons.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Annulation simplifiée : Possibilité pour le locataire d'annuler sa demande tant qu'elle est 'En attente'.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Expiration automatique 72h : Le propriétaire dispose de 72h pour répondre, sinon la demande expire et le locataire est notifié.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97316"/>
                </a:solidFill>
                <a:latin typeface="Calibri"/>
              </a:defRPr>
            </a:pPr>
            <a:r>
              <a:t>Paramètres de Profil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Gestion autonome : Intégration d'un écran de modification de profil directement dans les paramètres du compte.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Mise à jour en temps réel : Modification du nom, prénom et autres infos utilisateur avec enregistrement fluide.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Synchronisation backend : Mise à jour instantanée de la base de données PostgreSQL.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Calibri"/>
              </a:defRPr>
            </a:pPr>
            <a:r>
              <a:t>Filtres Locataire &amp; Équipements</a:t>
            </a:r>
          </a:p>
          <a:p>
            <a:pPr>
              <a:spcBef>
                <a:spcPts val="400"/>
              </a:spcBef>
              <a:defRPr sz="1600">
                <a:solidFill>
                  <a:srgbClr val="64748B"/>
                </a:solidFill>
                <a:latin typeface="Calibri"/>
              </a:defRPr>
            </a:pPr>
            <a:r>
              <a:t>Optimisation de la recherche et de la publication de biens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97316"/>
                </a:solidFill>
                <a:latin typeface="Calibri"/>
              </a:defRPr>
            </a:pPr>
            <a:r>
              <a:t>Filtres Prix (Locataire)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Recherche budgétaire : Ajout des fourchettes de prix Min/Max pour affiner la recherche de logements.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Résolution du conflit clavier : Clavier numérique optimisé avec KeyboardAvoidingView pour éviter de cacher les champs sur mobile.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Validation fluide : Fermeture automatique du clavier et mise à jour dynamique de la liste des biens.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97316"/>
                </a:solidFill>
                <a:latin typeface="Calibri"/>
              </a:defRPr>
            </a:pPr>
            <a:r>
              <a:t>Équipements (Propriétaire)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Cases à cocher dédiées : Lors de la publication d'un bien, le propriétaire coche les équipements disponibles.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Liste complète : Climatisation, eau chaude, internet, groupe électrogène, etc.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Visualisation claire : Affichage structuré de ces équipements sur le profil des annonces côté locataire.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Calibri"/>
              </a:defRPr>
            </a:pPr>
            <a:r>
              <a:t>Sécurité, Sessions &amp; Inactivité</a:t>
            </a:r>
          </a:p>
          <a:p>
            <a:pPr>
              <a:spcBef>
                <a:spcPts val="400"/>
              </a:spcBef>
              <a:defRPr sz="1600">
                <a:solidFill>
                  <a:srgbClr val="64748B"/>
                </a:solidFill>
                <a:latin typeface="Calibri"/>
              </a:defRPr>
            </a:pPr>
            <a:r>
              <a:t>Protection renforcée des accès utilisateurs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97316"/>
                </a:solidFill>
                <a:latin typeface="Calibri"/>
              </a:defRPr>
            </a:pPr>
            <a:r>
              <a:t>Double Système JWT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Access Token court : Utilisation d'un jeton d'accès à durée limitée pour toutes les requêtes authentifiées.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Refresh Token long (7j) : Jeton persistant de 7 jours permettant de renouveler l'accès sans ressaisir l'identifiant.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Sécurisation renforcée : Rotation robuste des clés et validation cryptographique côté backend.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97316"/>
                </a:solidFill>
                <a:latin typeface="Calibri"/>
              </a:defRPr>
            </a:pPr>
            <a:r>
              <a:t>Déconnexion pour Inactivité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Détection d'absence : Surveillance en arrière-plan des interactions sur l'application.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Déconnexion automatique : Déconnexion sécurisée de la session utilisateur après une période d'inactivité.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Protection des données : Garantit qu'un téléphone laissé sans surveillance ne permet pas d'accéder au compte.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Calibri"/>
              </a:defRPr>
            </a:pPr>
            <a:r>
              <a:t>Système "Mot de passe oublié"</a:t>
            </a:r>
          </a:p>
          <a:p>
            <a:pPr>
              <a:spcBef>
                <a:spcPts val="400"/>
              </a:spcBef>
              <a:defRPr sz="1600">
                <a:solidFill>
                  <a:srgbClr val="64748B"/>
                </a:solidFill>
                <a:latin typeface="Calibri"/>
              </a:defRPr>
            </a:pPr>
            <a:r>
              <a:t>Flux complet de récupération autonome de mot de passe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97316"/>
                </a:solidFill>
                <a:latin typeface="Calibri"/>
              </a:defRPr>
            </a:pPr>
            <a:r>
              <a:t>Flux Mobile &amp; Envoi Mail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Interface Mobile Dédiée : Lien 'Mot de passe oublié ?' intégré sur les écrans de connexion tenant &amp; owner.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Mailer intelligent : Envoi par vrai serveur SMTP (Gmail) ou simulation Dev (Ethereal) avec lien imprimé en console.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Lien sécurisé (JWT) : Token cryptographique à durée limitée (1h) lié à l'empreinte du mot de passe actuel.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97316"/>
                </a:solidFill>
                <a:latin typeface="Calibri"/>
              </a:defRPr>
            </a:pPr>
            <a:r>
              <a:t>Page Web de Réinitialisation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Aesthetic Premium : Interface web moderne avec design glassmorphism, thème sombre et animations de transition.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Autovalidation : Formulaire sécurisé vérifiant la correspondance des mots de passe en temps réel.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Auto-invalidation : Le lien expire automatiquement dès que le nouveau mot de passe est enregistré.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97316"/>
                </a:solidFill>
                <a:latin typeface="Calibri"/>
              </a:defRPr>
            </a:pPr>
            <a:r>
              <a:t>STATUT ACTUEL</a:t>
            </a:r>
          </a:p>
          <a:p>
            <a:pPr>
              <a:spcBef>
                <a:spcPts val="1000"/>
              </a:spcBef>
              <a:defRPr sz="5400" b="1">
                <a:solidFill>
                  <a:srgbClr val="F8FAFC"/>
                </a:solidFill>
                <a:latin typeface="Calibri"/>
              </a:defRPr>
            </a:pPr>
            <a:r>
              <a:t>Prêt pour Déploiement</a:t>
            </a:r>
          </a:p>
          <a:p>
            <a:pPr>
              <a:spcBef>
                <a:spcPts val="1500"/>
              </a:spcBef>
              <a:defRPr sz="1800">
                <a:solidFill>
                  <a:srgbClr val="64748B"/>
                </a:solidFill>
                <a:latin typeface="Calibri"/>
              </a:defRPr>
            </a:pPr>
            <a:r>
              <a:t>Toutes les fonctionnalités demandées sont stables, testées en local et prêtes pour la production.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