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PROJET ATTOUHOME</a:t>
            </a:r>
          </a:p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Soutenance de Fin de Projet</a:t>
            </a:r>
          </a:p>
          <a:p>
            <a:pPr>
              <a:spcBef>
                <a:spcPts val="1000"/>
              </a:spcBef>
              <a:spcAft>
                <a:spcPts val="4000"/>
              </a:spcAft>
              <a:defRPr sz="2000">
                <a:solidFill>
                  <a:srgbClr val="0EA5E9"/>
                </a:solidFill>
                <a:latin typeface="Segoe UI"/>
              </a:defRPr>
            </a:pPr>
            <a:r>
              <a:t>Plateforme Innovante de Location Immobilière Assistée en Côte d'Ivoire</a:t>
            </a:r>
          </a:p>
          <a:p>
            <a:pPr>
              <a:spcBef>
                <a:spcPts val="2000"/>
              </a:spcBef>
              <a:defRPr sz="1300" i="1">
                <a:solidFill>
                  <a:srgbClr val="FFFFFF"/>
                </a:solidFill>
                <a:latin typeface="Segoe UI"/>
              </a:defRPr>
            </a:pPr>
            <a:r>
              <a:t>Présenté aujourd'hui aux Responsables  •  Démo &amp; Bilan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tIns="0" bIns="0" lIns="0">
            <a:spAutoFit/>
          </a:bodyPr>
          <a:lstStyle/>
          <a:p>
            <a:pPr algn="r">
              <a:defRPr sz="1000">
                <a:solidFill>
                  <a:srgbClr val="0EA5E9"/>
                </a:solidFill>
                <a:latin typeface="Segoe UI"/>
              </a:defRPr>
            </a:pPr>
            <a:r>
              <a:t>AttouHome — Soutenance de Projet  |  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Contexte &amp; Problématique</a:t>
            </a:r>
          </a:p>
          <a:p>
            <a:pPr>
              <a:spcBef>
                <a:spcPts val="400"/>
              </a:spcBef>
              <a:defRPr sz="1300" i="1">
                <a:solidFill>
                  <a:srgbClr val="0EA5E9"/>
                </a:solidFill>
                <a:latin typeface="Segoe UI"/>
              </a:defRPr>
            </a:pPr>
            <a:r>
              <a:t>Les défis de la location immobilière en Côte d'Ivoire (Abidjan)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DÉFIS CÔTÉ LOCATAIRES (TENANTS)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Recherche complexe et non ciblée géographiquement (adresses floues).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Difficulté à estimer la distance et le temps de trajet vers les biens.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Manque de traçabilité et de sérieux dans les échanges avec les bailleurs.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Insécurité face aux annonces frauduleuses ou suspectes.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Visites chronophages organisées sans cadre de rendez-vous strict.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DÉFIS CÔTÉ PROPRIÉTAIRES (OWNERS)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Saisie d'adresses imprécises sans outil d'autocomplétion cartographique.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Surcharge de sollicitations informelles par messagerie directe.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Absence de planification structurée pour les visites des biens.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Difficulté à gérer la conformité et la modération des annonces.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Risque de saturation avec des demandes obsolètes ou restées sans réponse.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tIns="0" bIns="0" l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AttouHome — Soutenance de Projet  |  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La Solution AttouHome</a:t>
            </a:r>
          </a:p>
          <a:p>
            <a:pPr>
              <a:spcBef>
                <a:spcPts val="400"/>
              </a:spcBef>
              <a:defRPr sz="1300" i="1">
                <a:solidFill>
                  <a:srgbClr val="0EA5E9"/>
                </a:solidFill>
                <a:latin typeface="Segoe UI"/>
              </a:defRPr>
            </a:pPr>
            <a:r>
              <a:t>Une mise en relation directe, fluide et sécurisée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1. GÉOLOCALISATION APPLIQUÉE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Recherche sur carte interactive avec positionnement GPS.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Calcul d'itinéraire routier en temps réel via l'API OSRM.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Sélecteur d'adresse intelligent (Nominatim) limité à la Côte d'Ivoire.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F97316"/>
                </a:solidFill>
                <a:latin typeface="Segoe UI"/>
              </a:defRPr>
            </a:pPr>
            <a:r>
              <a:t>2. SÉCURISATION DU CHAT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Ouverture de discussion conditionnée à une visite acceptée.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Bandeau d'alerte et de statut pour les deux parties.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Notifications sonores immersives lors de la réception de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3. PROCESSUS AUTOMATISÉS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Expiration automatique des visites sous 72h avec alerte temps réel.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Modération stricte : signalement d'annonces suspectes en 24h.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Désactivation automatique du chat en cas de modération active.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tIns="0" bIns="0" l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AttouHome — Soutenance de Projet  |  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Architecture Technique &amp; Stack</a:t>
            </a:r>
          </a:p>
          <a:p>
            <a:pPr>
              <a:spcBef>
                <a:spcPts val="400"/>
              </a:spcBef>
              <a:defRPr sz="1300" i="1">
                <a:solidFill>
                  <a:srgbClr val="0EA5E9"/>
                </a:solidFill>
                <a:latin typeface="Segoe UI"/>
              </a:defRPr>
            </a:pPr>
            <a:r>
              <a:t>Une architecture à trois tiers moderne, réactive et typée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FRONTEND (MULTI-PLATEFORME)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• React Native (Expo SDK 54, Expo Router, TypeScript) pour les applications mobiles.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• Tenant App : Recherche cartographique, demandes de visite et messagerie.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• Owner App : Publication d'annonces, planification et validation des visites.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• Admin Web : Interface de modération en React pour les administrateurs.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• Modules natifs gérés : react-native-maps, expo-av (audio), expo-location (GPS).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BACKEND &amp; BASE DE DONNÉES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• Node.js + Express API en TypeScript, assurant un typage de bout en bout.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• Socket.io pour les communications bidirectionnelles et instantanées.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• Prisma ORM pour la modélisation de données et les requêtes sécurisées.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• PostgreSQL pour la persistance relationnelle.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• CRON / Interval Workers pour les tâches asynchrones récurrentes.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• APIs tiers légères : OSRM (itinéraires) et Nominatim (géocodage 🇨🇮).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tIns="0" bIns="0" l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AttouHome — Soutenance de Projet  |  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Modèle de Données &amp; Relations</a:t>
            </a:r>
          </a:p>
          <a:p>
            <a:pPr>
              <a:spcBef>
                <a:spcPts val="400"/>
              </a:spcBef>
              <a:defRPr sz="1300" i="1">
                <a:solidFill>
                  <a:srgbClr val="0EA5E9"/>
                </a:solidFill>
                <a:latin typeface="Segoe UI"/>
              </a:defRPr>
            </a:pPr>
            <a:r>
              <a:t>Un schéma relationnel robuste conçu avec Prisma 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Utilisateur (User)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Rôles distincts : PROPRIETAIRE et LOCATAIRE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Hachage Bcrypt des mots de passe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Authentification basée sur des tokens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9377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97316"/>
                </a:solidFill>
                <a:latin typeface="Segoe UI"/>
              </a:defRPr>
            </a:pPr>
            <a:r>
              <a:t>Bien &amp; Annonce (Property / Annonce)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Description complète, prix, surface, nombre de chambres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Coordonnées GPS et adresse physique (Côte d'Ivoire)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Statuts de publication : PUBLIEE, SUSPENDUE, BROUILLON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49377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Demande de Visite (Visit)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Stocke la date, l'heure et l'identifiant du bien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États du flux : EN_ATTENTE, ACCEPTEE, REFUSEE, EXPIREE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Relation un-à-plusieurs (Un bien peut recevoir plusieurs demandes)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02336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9377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Discussion &amp; Messages (Chat)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Salon de chat directement associé à un bien immobilier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Condition : Visite 'ACCEPTEE' obligatoire pour lancer le chat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Persistance en BDD des messages avec horodatage strict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tIns="0" bIns="0" l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AttouHome — Soutenance de Projet  |  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Cartographie &amp; Itinéraire en Temps Réel</a:t>
            </a:r>
          </a:p>
          <a:p>
            <a:pPr>
              <a:spcBef>
                <a:spcPts val="400"/>
              </a:spcBef>
              <a:defRPr sz="1300" i="1">
                <a:solidFill>
                  <a:srgbClr val="0EA5E9"/>
                </a:solidFill>
                <a:latin typeface="Segoe UI"/>
              </a:defRPr>
            </a:pPr>
            <a:r>
              <a:t>Une expérience de navigation fluide pour cibler précisément les logements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FONCTIONNALITÉS TECHNIQUES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Permissions GPS d'expo-location demandées à l'ouverture de la carte.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Autocomplétion des adresses via Nominatim limitée à la Côte d'Ivoire.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Positionnement intelligent : si la latitude/longitude du bien est vide, l'algorithme utilise la commune avec un 'Jitter' (décalage minime) pour éviter que les épingles se superposent sur la carte.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Redirection directe 'Voir sur la carte' depuis la fiche du bien avec passage d'argument focus (id) et zoom immédiat.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DOUBLON DE CALCUL D'ITINÉRAIRE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Requête automatique à OSRM (Open Source Routing Machine) pour tracer la route réelle avec distance/temps de trajet (ex: '🚗 4.2 km (8 min)').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Algorithme de Fallback : si l'API OSRM est indisponible ou l'appareil est hors-ligne, calcul mathématique géométrique de la distance via la Formule de Haversine.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Affichage instantané d'une ligne directe avec l'indicateur '(direct)' pour garantir une expérience sans crash (ex: '5.1 km (direct)').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tIns="0" bIns="0" l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AttouHome — Soutenance de Projet  |  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Messagerie Temps Réel &amp; Alertes Sonores</a:t>
            </a:r>
          </a:p>
          <a:p>
            <a:pPr>
              <a:spcBef>
                <a:spcPts val="400"/>
              </a:spcBef>
              <a:defRPr sz="1300" i="1">
                <a:solidFill>
                  <a:srgbClr val="0EA5E9"/>
                </a:solidFill>
                <a:latin typeface="Segoe UI"/>
              </a:defRPr>
            </a:pPr>
            <a:r>
              <a:t>Stabilisation et robustesse de la connexion et de l'expérience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STABILISATION TECHNIQUE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Configuration de Socket.io avec fallback de transport hybride : ['polling', 'websocket'].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Contournement des pare-feu et blocages de tunnels en développement (Ngrok / Localtunnel).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Injection automatique des en-têtes Ngrok pour bypasser la page d'avertissement de tunnel.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Résolution des bugs d'ID : Cast strict des variables ID en String(id) pour le dispatch exact des messages.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Refactoring du hook useSocket partagé et réutilisé.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EXPÉRIENCE SONORE (EXPO-AV)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Installation et configuration d'expo-av dans les applications mobiles.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Création de l'utilitaire 'notificationSound.ts' pour zentraliser la lecture.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Deux scénarios intégrés avec des fichiers audio MP3 légers 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  - Ding-ding à la réception d'un nouveau message (sauf pour ses propres messages).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  - Son arpège ascendant lors de la création d'annonces ou alertes.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Nettoyage mémoire strict : déchargement systématique des fichiers audio après chaque lecture pour éviter tout gaspillage mémoire.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tIns="0" bIns="0" l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AttouHome — Soutenance de Projet  |  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Automatisation Backend &amp; Modération</a:t>
            </a:r>
          </a:p>
          <a:p>
            <a:pPr>
              <a:spcBef>
                <a:spcPts val="400"/>
              </a:spcBef>
              <a:defRPr sz="1300" i="1">
                <a:solidFill>
                  <a:srgbClr val="0EA5E9"/>
                </a:solidFill>
                <a:latin typeface="Segoe UI"/>
              </a:defRPr>
            </a:pPr>
            <a:r>
              <a:t>Système autonome pour réguler l'activité et assurer la conformité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EXPIRATION AUTOMATIQUE (72H)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Tâche de fond du serveur (`setInterval` toutes les 60s) exécutant la fonction d'expiration.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Passage automatique des visites 'EN_ATTENTE' de plus de 72 heures au statut 'EXPIREE' / 'REFUSEE'.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Enregistrement de la notification d'expiration persistante en BDD.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Émission instantanée d'un signal WebSockets au client locataire concerné pour mettre à jour son UI en temps réel.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Alerte visuelle (Alert.alert) et signal sonore (expo-av) immédiat déclenché chez le locataire.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MODÉRATION SOUS 24H &amp; EFFETS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Possibilité pour un locataire de signaler une annonce suspecte.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L'annonce passe instantanément en statut 'SUSPENDUE' et disparaît de la recherche publique.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Verrouillage total de la messagerie : le propriétaire ne peut plus envoyer de messages dans cette conversation.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Bandeau rouge d'alerte de modération affiché sur le chat du propriétaire.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Le propriétaire a 24h pour éditer et mettre à jour le bien pour soumission, dans la limite de 20 biens.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tIns="0" bIns="0" l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AttouHome — Soutenance de Projet  |  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Scénario de Démonstration Live</a:t>
            </a:r>
          </a:p>
          <a:p>
            <a:pPr>
              <a:spcBef>
                <a:spcPts val="400"/>
              </a:spcBef>
              <a:defRPr sz="1300" i="1">
                <a:solidFill>
                  <a:srgbClr val="0EA5E9"/>
                </a:solidFill>
                <a:latin typeface="Segoe UI"/>
              </a:defRPr>
            </a:pPr>
            <a:r>
              <a:t>Structure de la démonstration à réaliser devant les responsables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1. Inscription &amp; Publication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Connexion propriétaire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Saisie d'un bien avec autocomplétion d'adresse Nominatim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Le bien est publié en BDD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737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2. Recherche &amp; Itinéraire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Connexion locataire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Sélection du bien sur la carte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Tracé d'itinéraire OSRM (fallback Haversine si hors-ligne)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3. Demande de Visite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Clic sur bouton 'Contacter' bloqué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Choix de la date et de l'heure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Envoi d'une demande 'EN_ATTENTE'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2918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4. Validation &amp; Chat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Propriétaire accepte la visite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Le salon de discussion s'ouvre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Échange en temps réel (sons expo-av)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31920"/>
            <a:ext cx="32918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023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5. Expiration 72h (Simulée)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Visite non validée expire en BDD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Signal socket instantané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Alerte visuelle et sonore chez le locataire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2918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023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6. Modération &amp; Suspension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Signalement par le locataire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L'annonce passe à SUSPENDUE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- Verrouillage de la messagerie du propriétaire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tIns="0" bIns="0" l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AttouHome — Soutenance de Projet  |  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Sécurité, Robustesse &amp; Perspectives</a:t>
            </a:r>
          </a:p>
          <a:p>
            <a:pPr>
              <a:spcBef>
                <a:spcPts val="400"/>
              </a:spcBef>
              <a:defRPr sz="1300" i="1">
                <a:solidFill>
                  <a:srgbClr val="0EA5E9"/>
                </a:solidFill>
                <a:latin typeface="Segoe UI"/>
              </a:defRPr>
            </a:pPr>
            <a:r>
              <a:t>Garantir la fiabilité en production et préparer le passage à l'échelle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SÉCURITÉ ET ROBUSTESSE DU CODE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Hachage sécurisé Bcrypt en base de données et authentification via tokens JWT.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Typage rigoureux en TypeScript vérifié avec 'npx tsc --noEmit' sur l'ensemble du projet.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Gestion efficace des ressources mobiles : libération immédiate de la mémoire de lecture d'expo-av après chaque bip.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• Résolution des problèmes d'importation de modules natifs sur le web (wrappers conditionnels pour maps).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PERSPECTIVES DE PRODUCTION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Migration des serveurs de développement vers un hébergement stable (Frontend Vercel, Backend Render, PostgreSQL Neon DB).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Remplacement des alertes Socket.io en tâche de fond par de vraies notifications push via Expo Notifications, Google FCM et Apple APNs (nécessite l'attribution d'un projectId Expo Cloud).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Déploiement des applications mobiles sur l'App Store et Google Play Store.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✔ Intégration d'un module de paiement mobile Money (Wave, Orange, MTN) pour les réservations.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tIns="0" bIns="0" l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AttouHome — Soutenance de Projet  | 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ATTOUHOME  •  CONCLUSION</a:t>
            </a:r>
          </a:p>
          <a:p>
            <a:pPr>
              <a:spcAft>
                <a:spcPts val="18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Une Plateforme Prête pour sa Démonstration</a:t>
            </a:r>
          </a:p>
          <a:p>
            <a:pPr>
              <a:spcBef>
                <a:spcPts val="800"/>
              </a:spcBef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✔ Solution complète et intégrée (2 applications mobiles et 1 tableau de bord d'administration).</a:t>
            </a:r>
          </a:p>
          <a:p>
            <a:pPr>
              <a:spcBef>
                <a:spcPts val="800"/>
              </a:spcBef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✔ Fonctionnalités clés stabilisées : Itinéraires OSRM, Chat Socket.io et alertes audio.</a:t>
            </a:r>
          </a:p>
          <a:p>
            <a:pPr>
              <a:spcBef>
                <a:spcPts val="800"/>
              </a:spcBef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✔ Robustesse opérationnelle grâce à l'automatisation backend (expiration et modération).</a:t>
            </a:r>
          </a:p>
          <a:p>
            <a:pPr>
              <a:spcBef>
                <a:spcPts val="800"/>
              </a:spcBef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✔ Architecture typée TypeScript, extensible et prête pour un déploiement cloud d'envergure.</a:t>
            </a:r>
          </a:p>
          <a:p>
            <a:pPr>
              <a:spcBef>
                <a:spcPts val="3000"/>
              </a:spcBef>
              <a:defRPr sz="1800" i="1" b="1">
                <a:solidFill>
                  <a:srgbClr val="FFFFFF"/>
                </a:solidFill>
                <a:latin typeface="Segoe UI"/>
              </a:defRPr>
            </a:pPr>
            <a:r>
              <a:t>Merci pour votre attention. Place à la démonstration en direct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tIns="0" bIns="0" lIns="0">
            <a:spAutoFit/>
          </a:bodyPr>
          <a:lstStyle/>
          <a:p>
            <a:pPr algn="r">
              <a:defRPr sz="1000">
                <a:solidFill>
                  <a:srgbClr val="0EA5E9"/>
                </a:solidFill>
                <a:latin typeface="Segoe UI"/>
              </a:defRPr>
            </a:pPr>
            <a:r>
              <a:t>AttouHome — Soutenance de Projet  | 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