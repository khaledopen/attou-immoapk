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6" r:id="rId9"/>
    <p:sldId id="267" r:id="rId10"/>
    <p:sldId id="263" r:id="rId11"/>
    <p:sldId id="264" r:id="rId12"/>
    <p:sldId id="265" r:id="rId13"/>
    <p:sldId id="268" r:id="rId14"/>
    <p:sldId id="269" r:id="rId15"/>
    <p:sldId id="272" r:id="rId16"/>
    <p:sldId id="270" r:id="rId17"/>
    <p:sldId id="271" r:id="rId18"/>
    <p:sldId id="273" r:id="rId19"/>
    <p:sldId id="274" r:id="rId20"/>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44" autoAdjust="0"/>
    <p:restoredTop sz="94660"/>
  </p:normalViewPr>
  <p:slideViewPr>
    <p:cSldViewPr snapToGrid="0">
      <p:cViewPr>
        <p:scale>
          <a:sx n="40" d="100"/>
          <a:sy n="40" d="100"/>
        </p:scale>
        <p:origin x="1157" y="5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fr-FR" smtClean="0"/>
              <a:t>Modifiez le style du titre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13/07/2026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8742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13/07/2026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176064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fr-FR" smtClean="0"/>
              <a:t>Modifiez le style du titre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15B6476-63D3-49FF-8DFE-CC0E5B83AC5F}" type="datetimeFigureOut">
              <a:rPr lang="fr-FR" smtClean="0"/>
              <a:t>13/07/2026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409920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15B6476-63D3-49FF-8DFE-CC0E5B83AC5F}" type="datetimeFigureOut">
              <a:rPr lang="fr-FR" smtClean="0"/>
              <a:t>13/07/2026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33815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fr-FR" smtClean="0"/>
              <a:t>Modifier les styles du texte du masque</a:t>
            </a:r>
          </a:p>
        </p:txBody>
      </p:sp>
      <p:sp>
        <p:nvSpPr>
          <p:cNvPr id="4" name="Content Placeholder 3"/>
          <p:cNvSpPr>
            <a:spLocks noGrp="1"/>
          </p:cNvSpPr>
          <p:nvPr>
            <p:ph sz="half" idx="2"/>
          </p:nvPr>
        </p:nvSpPr>
        <p:spPr>
          <a:xfrm>
            <a:off x="1259683" y="3757613"/>
            <a:ext cx="7736681" cy="55268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fr-FR" smtClean="0"/>
              <a:t>Modifier les styles du texte du masque</a:t>
            </a:r>
          </a:p>
        </p:txBody>
      </p:sp>
      <p:sp>
        <p:nvSpPr>
          <p:cNvPr id="6" name="Content Placeholder 5"/>
          <p:cNvSpPr>
            <a:spLocks noGrp="1"/>
          </p:cNvSpPr>
          <p:nvPr>
            <p:ph sz="quarter" idx="4"/>
          </p:nvPr>
        </p:nvSpPr>
        <p:spPr>
          <a:xfrm>
            <a:off x="9258300" y="3757613"/>
            <a:ext cx="7774782" cy="55268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15B6476-63D3-49FF-8DFE-CC0E5B83AC5F}" type="datetimeFigureOut">
              <a:rPr lang="fr-FR" smtClean="0"/>
              <a:t>13/07/2026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626591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15B6476-63D3-49FF-8DFE-CC0E5B83AC5F}" type="datetimeFigureOut">
              <a:rPr lang="fr-FR" smtClean="0"/>
              <a:t>13/07/2026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89338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5B6476-63D3-49FF-8DFE-CC0E5B83AC5F}" type="datetimeFigureOut">
              <a:rPr lang="fr-FR" smtClean="0"/>
              <a:t>13/07/2026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99016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fr-FR" smtClean="0"/>
              <a:t>Modifiez le style du titre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15B6476-63D3-49FF-8DFE-CC0E5B83AC5F}" type="datetimeFigureOut">
              <a:rPr lang="fr-FR" smtClean="0"/>
              <a:t>13/07/2026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56176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15B6476-63D3-49FF-8DFE-CC0E5B83AC5F}" type="datetimeFigureOut">
              <a:rPr lang="fr-FR" smtClean="0"/>
              <a:t>13/07/2026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614283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13/07/2026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321601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13/07/2026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168928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B15B6476-63D3-49FF-8DFE-CC0E5B83AC5F}" type="datetimeFigureOut">
              <a:rPr lang="fr-FR" smtClean="0"/>
              <a:t>13/07/2026</a:t>
            </a:fld>
            <a:endParaRPr lang="fr-F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F602E24A-6256-4570-855D-A269B5A4E165}" type="slidenum">
              <a:rPr lang="fr-FR" smtClean="0"/>
              <a:t>‹N°›</a:t>
            </a:fld>
            <a:endParaRPr lang="fr-FR"/>
          </a:p>
        </p:txBody>
      </p:sp>
    </p:spTree>
    <p:extLst>
      <p:ext uri="{BB962C8B-B14F-4D97-AF65-F5344CB8AC3E}">
        <p14:creationId xmlns:p14="http://schemas.microsoft.com/office/powerpoint/2010/main" val="30683545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a:xfrm>
            <a:off x="504650" y="304800"/>
            <a:ext cx="3183430" cy="2835682"/>
          </a:xfrm>
          <a:custGeom>
            <a:avLst/>
            <a:gdLst/>
            <a:ahLst/>
            <a:cxnLst/>
            <a:rect l="l" t="t" r="r" b="b"/>
            <a:pathLst>
              <a:path w="3393819" h="2752926">
                <a:moveTo>
                  <a:pt x="0" y="0"/>
                </a:moveTo>
                <a:lnTo>
                  <a:pt x="3393819" y="0"/>
                </a:lnTo>
                <a:lnTo>
                  <a:pt x="3393819" y="2752926"/>
                </a:lnTo>
                <a:lnTo>
                  <a:pt x="0" y="2752926"/>
                </a:lnTo>
                <a:lnTo>
                  <a:pt x="0" y="0"/>
                </a:lnTo>
                <a:close/>
              </a:path>
            </a:pathLst>
          </a:custGeom>
          <a:blipFill>
            <a:blip r:embed="rId2"/>
            <a:stretch>
              <a:fillRect/>
            </a:stretch>
          </a:blipFill>
        </p:spPr>
        <p:txBody>
          <a:bodyPr/>
          <a:lstStyle/>
          <a:p>
            <a:endParaRPr lang="fr-FR" sz="6075"/>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14046871" y="304800"/>
            <a:ext cx="3936489" cy="2034886"/>
          </a:xfrm>
          <a:prstGeom prst="rect">
            <a:avLst/>
          </a:prstGeom>
        </p:spPr>
      </p:pic>
      <p:sp>
        <p:nvSpPr>
          <p:cNvPr id="6" name="TextBox 6"/>
          <p:cNvSpPr txBox="1"/>
          <p:nvPr/>
        </p:nvSpPr>
        <p:spPr>
          <a:xfrm>
            <a:off x="372835" y="2963257"/>
            <a:ext cx="8085365" cy="807913"/>
          </a:xfrm>
          <a:prstGeom prst="rect">
            <a:avLst/>
          </a:prstGeom>
        </p:spPr>
        <p:txBody>
          <a:bodyPr wrap="square" lIns="0" tIns="0" rIns="0" bIns="0" rtlCol="0" anchor="t">
            <a:spAutoFit/>
          </a:bodyPr>
          <a:lstStyle/>
          <a:p>
            <a:pPr>
              <a:lnSpc>
                <a:spcPts val="6300"/>
              </a:lnSpc>
              <a:spcBef>
                <a:spcPct val="0"/>
              </a:spcBef>
            </a:pPr>
            <a:r>
              <a:rPr lang="en-US" sz="2000" b="1" dirty="0">
                <a:solidFill>
                  <a:srgbClr val="000000"/>
                </a:solidFill>
                <a:latin typeface="Times New Roman Bold"/>
                <a:ea typeface="Times New Roman Bold"/>
                <a:cs typeface="Times New Roman Bold"/>
                <a:sym typeface="Times New Roman Bold"/>
              </a:rPr>
              <a:t>UNIVERSITE POLYTECHNIQUE DE BINGERVILLE</a:t>
            </a:r>
          </a:p>
        </p:txBody>
      </p:sp>
      <p:sp>
        <p:nvSpPr>
          <p:cNvPr id="7" name="TextBox 7"/>
          <p:cNvSpPr txBox="1"/>
          <p:nvPr/>
        </p:nvSpPr>
        <p:spPr>
          <a:xfrm>
            <a:off x="2096365" y="4003576"/>
            <a:ext cx="13817743" cy="1795363"/>
          </a:xfrm>
          <a:prstGeom prst="rect">
            <a:avLst/>
          </a:prstGeom>
        </p:spPr>
        <p:txBody>
          <a:bodyPr lIns="0" tIns="0" rIns="0" bIns="0" rtlCol="0" anchor="t">
            <a:spAutoFit/>
          </a:bodyPr>
          <a:lstStyle/>
          <a:p>
            <a:pPr algn="ctr">
              <a:lnSpc>
                <a:spcPts val="3499"/>
              </a:lnSpc>
            </a:pPr>
            <a:r>
              <a:rPr lang="en-US" sz="2499" b="1" dirty="0">
                <a:solidFill>
                  <a:srgbClr val="000000"/>
                </a:solidFill>
                <a:latin typeface="Times New Roman Bold"/>
                <a:ea typeface="Times New Roman Bold"/>
                <a:cs typeface="Times New Roman Bold"/>
                <a:sym typeface="Times New Roman Bold"/>
              </a:rPr>
              <a:t>MÉMOIRE DE FIN DE CYCLE</a:t>
            </a:r>
          </a:p>
          <a:p>
            <a:pPr algn="ctr">
              <a:lnSpc>
                <a:spcPts val="3499"/>
              </a:lnSpc>
            </a:pPr>
            <a:r>
              <a:rPr lang="en-US" sz="2499" dirty="0" smtClean="0">
                <a:solidFill>
                  <a:srgbClr val="000000"/>
                </a:solidFill>
                <a:latin typeface="Times New Roman"/>
                <a:ea typeface="Times New Roman"/>
                <a:cs typeface="Times New Roman"/>
                <a:sym typeface="Times New Roman"/>
              </a:rPr>
              <a:t>POUR  L’OBTENTION DU DIPLÔME DE</a:t>
            </a:r>
          </a:p>
          <a:p>
            <a:pPr algn="ctr">
              <a:lnSpc>
                <a:spcPts val="3499"/>
              </a:lnSpc>
              <a:spcBef>
                <a:spcPct val="0"/>
              </a:spcBef>
            </a:pPr>
            <a:r>
              <a:rPr lang="fr-FR" sz="2500" dirty="0">
                <a:latin typeface="Times New Roman" panose="02020603050405020304" pitchFamily="18" charset="0"/>
                <a:cs typeface="Times New Roman" panose="02020603050405020304" pitchFamily="18" charset="0"/>
              </a:rPr>
              <a:t>LICENCE DE MÉTHODES INFORMATIQUES APPLIQUÉES À LA GESTION DES ENTREPRISES (MIAGE)</a:t>
            </a:r>
            <a:endParaRPr lang="en-US" sz="2500"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8" name="TextBox 8"/>
          <p:cNvSpPr txBox="1"/>
          <p:nvPr/>
        </p:nvSpPr>
        <p:spPr>
          <a:xfrm>
            <a:off x="3493616" y="6296660"/>
            <a:ext cx="12215169" cy="1292662"/>
          </a:xfrm>
          <a:prstGeom prst="rect">
            <a:avLst/>
          </a:prstGeom>
        </p:spPr>
        <p:txBody>
          <a:bodyPr lIns="0" tIns="0" rIns="0" bIns="0" rtlCol="0" anchor="t">
            <a:spAutoFit/>
          </a:bodyPr>
          <a:lstStyle/>
          <a:p>
            <a:pPr algn="ctr"/>
            <a:r>
              <a:rPr lang="en-US" sz="2799" b="1" u="sng" dirty="0" smtClean="0">
                <a:solidFill>
                  <a:srgbClr val="000000"/>
                </a:solidFill>
                <a:latin typeface="Times New Roman Bold"/>
                <a:ea typeface="Times New Roman Bold"/>
                <a:cs typeface="Times New Roman Bold"/>
                <a:sym typeface="Times New Roman Bold"/>
              </a:rPr>
              <a:t>THEME</a:t>
            </a:r>
            <a:r>
              <a:rPr lang="en-US" sz="2799" b="1" dirty="0" smtClean="0">
                <a:solidFill>
                  <a:srgbClr val="000000"/>
                </a:solidFill>
                <a:latin typeface="Times New Roman Bold"/>
                <a:ea typeface="Times New Roman Bold"/>
                <a:cs typeface="Times New Roman Bold"/>
                <a:sym typeface="Times New Roman Bold"/>
              </a:rPr>
              <a:t> : </a:t>
            </a:r>
            <a:r>
              <a:rPr lang="fr-FR" sz="2800" b="1" dirty="0">
                <a:latin typeface="Times New Roman" panose="02020603050405020304" pitchFamily="18" charset="0"/>
                <a:cs typeface="Times New Roman" panose="02020603050405020304" pitchFamily="18" charset="0"/>
              </a:rPr>
              <a:t>CONCEPTION ET RÉALISATION D’UNE APPLICATION WEB ET MOBILE POUR LA RECHERCHE DE LOGEMENT EN LOCATION POUR LA FILIALE IMMOBILIÈRE DU GROUPE ATTOU CORPORATE </a:t>
            </a:r>
            <a:endParaRPr lang="en-US" dirty="0">
              <a:latin typeface="Times New Roman" panose="02020603050405020304" pitchFamily="18" charset="0"/>
              <a:cs typeface="Times New Roman" panose="02020603050405020304" pitchFamily="18" charset="0"/>
            </a:endParaRPr>
          </a:p>
        </p:txBody>
      </p:sp>
      <p:sp>
        <p:nvSpPr>
          <p:cNvPr id="9" name="TextBox 9"/>
          <p:cNvSpPr txBox="1"/>
          <p:nvPr/>
        </p:nvSpPr>
        <p:spPr>
          <a:xfrm>
            <a:off x="834549" y="8438833"/>
            <a:ext cx="4011771" cy="1346522"/>
          </a:xfrm>
          <a:prstGeom prst="rect">
            <a:avLst/>
          </a:prstGeom>
        </p:spPr>
        <p:txBody>
          <a:bodyPr wrap="square" lIns="0" tIns="0" rIns="0" bIns="0" rtlCol="0" anchor="t">
            <a:spAutoFit/>
          </a:bodyPr>
          <a:lstStyle/>
          <a:p>
            <a:pPr algn="ctr">
              <a:lnSpc>
                <a:spcPts val="3499"/>
              </a:lnSpc>
            </a:pPr>
            <a:r>
              <a:rPr lang="en-US" sz="2499" b="1" u="sng" dirty="0">
                <a:solidFill>
                  <a:srgbClr val="000000"/>
                </a:solidFill>
                <a:latin typeface="Times New Roman Bold"/>
                <a:ea typeface="Times New Roman Bold"/>
                <a:cs typeface="Times New Roman Bold"/>
                <a:sym typeface="Times New Roman Bold"/>
              </a:rPr>
              <a:t>ENCADRANT</a:t>
            </a:r>
            <a:r>
              <a:rPr lang="en-US" sz="2499" b="1" dirty="0">
                <a:solidFill>
                  <a:srgbClr val="000000"/>
                </a:solidFill>
                <a:latin typeface="Times New Roman Bold"/>
                <a:ea typeface="Times New Roman Bold"/>
                <a:cs typeface="Times New Roman Bold"/>
                <a:sym typeface="Times New Roman Bold"/>
              </a:rPr>
              <a:t> : </a:t>
            </a:r>
          </a:p>
          <a:p>
            <a:pPr algn="ctr">
              <a:lnSpc>
                <a:spcPts val="3499"/>
              </a:lnSpc>
            </a:pPr>
            <a:r>
              <a:rPr lang="en-US" sz="2499" b="1" dirty="0" smtClean="0">
                <a:solidFill>
                  <a:srgbClr val="000000"/>
                </a:solidFill>
                <a:latin typeface="Times New Roman Bold"/>
                <a:ea typeface="Times New Roman Bold"/>
                <a:cs typeface="Times New Roman Bold"/>
                <a:sym typeface="Times New Roman Bold"/>
              </a:rPr>
              <a:t>DR KAMAGATE</a:t>
            </a:r>
            <a:endParaRPr lang="en-US" sz="2499" b="1" dirty="0">
              <a:solidFill>
                <a:srgbClr val="000000"/>
              </a:solidFill>
              <a:latin typeface="Times New Roman Bold"/>
              <a:ea typeface="Times New Roman Bold"/>
              <a:cs typeface="Times New Roman Bold"/>
              <a:sym typeface="Times New Roman Bold"/>
            </a:endParaRPr>
          </a:p>
          <a:p>
            <a:pPr algn="ctr">
              <a:lnSpc>
                <a:spcPts val="3499"/>
              </a:lnSpc>
              <a:spcBef>
                <a:spcPct val="0"/>
              </a:spcBef>
            </a:pPr>
            <a:r>
              <a:rPr lang="en-US" sz="2499" dirty="0">
                <a:solidFill>
                  <a:srgbClr val="000000"/>
                </a:solidFill>
                <a:latin typeface="Times New Roman"/>
                <a:ea typeface="Times New Roman"/>
                <a:cs typeface="Times New Roman"/>
                <a:sym typeface="Times New Roman"/>
              </a:rPr>
              <a:t>ENSEIGNANT À UPB</a:t>
            </a:r>
          </a:p>
        </p:txBody>
      </p:sp>
      <p:sp>
        <p:nvSpPr>
          <p:cNvPr id="10" name="TextBox 10"/>
          <p:cNvSpPr txBox="1"/>
          <p:nvPr/>
        </p:nvSpPr>
        <p:spPr>
          <a:xfrm>
            <a:off x="14324725" y="8438833"/>
            <a:ext cx="3380780" cy="1346522"/>
          </a:xfrm>
          <a:prstGeom prst="rect">
            <a:avLst/>
          </a:prstGeom>
        </p:spPr>
        <p:txBody>
          <a:bodyPr lIns="0" tIns="0" rIns="0" bIns="0" rtlCol="0" anchor="t">
            <a:spAutoFit/>
          </a:bodyPr>
          <a:lstStyle/>
          <a:p>
            <a:pPr algn="ctr">
              <a:lnSpc>
                <a:spcPts val="3499"/>
              </a:lnSpc>
            </a:pPr>
            <a:r>
              <a:rPr lang="en-US" sz="2499" b="1" u="sng" dirty="0">
                <a:solidFill>
                  <a:srgbClr val="000000"/>
                </a:solidFill>
                <a:latin typeface="Times New Roman Bold"/>
                <a:ea typeface="Times New Roman Bold"/>
                <a:cs typeface="Times New Roman Bold"/>
                <a:sym typeface="Times New Roman Bold"/>
              </a:rPr>
              <a:t>MAÎTRE DE STAGE</a:t>
            </a:r>
            <a:r>
              <a:rPr lang="en-US" sz="2499" b="1" dirty="0">
                <a:solidFill>
                  <a:srgbClr val="000000"/>
                </a:solidFill>
                <a:latin typeface="Times New Roman Bold"/>
                <a:ea typeface="Times New Roman Bold"/>
                <a:cs typeface="Times New Roman Bold"/>
                <a:sym typeface="Times New Roman Bold"/>
              </a:rPr>
              <a:t> :   </a:t>
            </a:r>
          </a:p>
          <a:p>
            <a:pPr algn="ctr">
              <a:lnSpc>
                <a:spcPts val="3499"/>
              </a:lnSpc>
            </a:pPr>
            <a:r>
              <a:rPr lang="en-US" sz="2499" b="1" dirty="0" smtClean="0">
                <a:solidFill>
                  <a:srgbClr val="000000"/>
                </a:solidFill>
                <a:latin typeface="Times New Roman Bold"/>
                <a:ea typeface="Times New Roman Bold"/>
                <a:cs typeface="Times New Roman Bold"/>
                <a:sym typeface="Times New Roman Bold"/>
              </a:rPr>
              <a:t>MME KOUAKOU</a:t>
            </a:r>
            <a:endParaRPr lang="en-US" sz="2499" b="1" dirty="0">
              <a:solidFill>
                <a:srgbClr val="000000"/>
              </a:solidFill>
              <a:latin typeface="Times New Roman Bold"/>
              <a:ea typeface="Times New Roman Bold"/>
              <a:cs typeface="Times New Roman Bold"/>
              <a:sym typeface="Times New Roman Bold"/>
            </a:endParaRPr>
          </a:p>
          <a:p>
            <a:pPr algn="ctr">
              <a:lnSpc>
                <a:spcPts val="3499"/>
              </a:lnSpc>
              <a:spcBef>
                <a:spcPct val="0"/>
              </a:spcBef>
            </a:pPr>
            <a:r>
              <a:rPr lang="en-US" sz="2499" dirty="0">
                <a:solidFill>
                  <a:srgbClr val="000000"/>
                </a:solidFill>
                <a:latin typeface="Times New Roman"/>
                <a:ea typeface="Times New Roman"/>
                <a:cs typeface="Times New Roman"/>
                <a:sym typeface="Times New Roman"/>
              </a:rPr>
              <a:t>ASSISTANT RSSI</a:t>
            </a:r>
          </a:p>
        </p:txBody>
      </p:sp>
      <p:sp>
        <p:nvSpPr>
          <p:cNvPr id="11" name="Ellipse 10"/>
          <p:cNvSpPr/>
          <p:nvPr/>
        </p:nvSpPr>
        <p:spPr>
          <a:xfrm>
            <a:off x="16787813" y="9112094"/>
            <a:ext cx="4177242" cy="335440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52342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37485" y="0"/>
            <a:ext cx="8459187" cy="958850"/>
          </a:xfrm>
          <a:prstGeom prst="rect">
            <a:avLst/>
          </a:prstGeom>
        </p:spPr>
        <p:txBody>
          <a:bodyPr lIns="0" tIns="0" rIns="0" bIns="0" rtlCol="0" anchor="t">
            <a:spAutoFit/>
          </a:bodyPr>
          <a:lstStyle/>
          <a:p>
            <a:pPr algn="ctr">
              <a:lnSpc>
                <a:spcPts val="7000"/>
              </a:lnSpc>
            </a:pPr>
            <a:r>
              <a:rPr lang="en-US" sz="5000" b="1" dirty="0">
                <a:solidFill>
                  <a:srgbClr val="000000"/>
                </a:solidFill>
                <a:latin typeface="Times New Roman MT Bold"/>
                <a:ea typeface="Times New Roman MT Bold"/>
                <a:cs typeface="Times New Roman MT Bold"/>
                <a:sym typeface="Times New Roman MT Bold"/>
              </a:rPr>
              <a:t>PLAN DE PRESENTATION</a:t>
            </a:r>
          </a:p>
        </p:txBody>
      </p:sp>
      <p:sp>
        <p:nvSpPr>
          <p:cNvPr id="8" name="TextBox 10"/>
          <p:cNvSpPr txBox="1"/>
          <p:nvPr/>
        </p:nvSpPr>
        <p:spPr>
          <a:xfrm>
            <a:off x="1445580" y="1277581"/>
            <a:ext cx="2255141"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CONTEXTE</a:t>
            </a:r>
          </a:p>
        </p:txBody>
      </p:sp>
      <p:sp>
        <p:nvSpPr>
          <p:cNvPr id="9" name="TextBox 50"/>
          <p:cNvSpPr txBox="1"/>
          <p:nvPr/>
        </p:nvSpPr>
        <p:spPr>
          <a:xfrm>
            <a:off x="1345906" y="2076632"/>
            <a:ext cx="3608409"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PROBLEMATIQUE</a:t>
            </a:r>
          </a:p>
        </p:txBody>
      </p:sp>
      <p:sp>
        <p:nvSpPr>
          <p:cNvPr id="10" name="TextBox 11"/>
          <p:cNvSpPr txBox="1"/>
          <p:nvPr/>
        </p:nvSpPr>
        <p:spPr>
          <a:xfrm>
            <a:off x="1445580" y="2743940"/>
            <a:ext cx="2277102" cy="491609"/>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OBJECTIFS </a:t>
            </a:r>
          </a:p>
        </p:txBody>
      </p:sp>
      <p:sp>
        <p:nvSpPr>
          <p:cNvPr id="11" name="TextBox 25"/>
          <p:cNvSpPr txBox="1"/>
          <p:nvPr/>
        </p:nvSpPr>
        <p:spPr>
          <a:xfrm>
            <a:off x="1231354" y="4046219"/>
            <a:ext cx="4818819" cy="491609"/>
          </a:xfrm>
          <a:prstGeom prst="rect">
            <a:avLst/>
          </a:prstGeom>
        </p:spPr>
        <p:txBody>
          <a:bodyPr wrap="square" lIns="0" tIns="0" rIns="0" bIns="0" rtlCol="0" anchor="t">
            <a:spAutoFit/>
          </a:bodyPr>
          <a:lstStyle/>
          <a:p>
            <a:pPr algn="ctr">
              <a:lnSpc>
                <a:spcPts val="4200"/>
              </a:lnSpc>
              <a:spcBef>
                <a:spcPct val="0"/>
              </a:spcBef>
            </a:pPr>
            <a:r>
              <a:rPr lang="en-US" sz="3000" b="1" dirty="0" smtClean="0">
                <a:solidFill>
                  <a:srgbClr val="000000"/>
                </a:solidFill>
                <a:latin typeface="Times New Roman MT Bold"/>
                <a:ea typeface="Times New Roman MT Bold"/>
                <a:cs typeface="Times New Roman MT Bold"/>
                <a:sym typeface="Times New Roman MT Bold"/>
              </a:rPr>
              <a:t>SOLUTION PROPOSEE</a:t>
            </a:r>
            <a:endParaRPr lang="en-US" sz="3000" b="1" dirty="0">
              <a:solidFill>
                <a:srgbClr val="000000"/>
              </a:solidFill>
              <a:latin typeface="Times New Roman MT Bold"/>
              <a:ea typeface="Times New Roman MT Bold"/>
              <a:cs typeface="Times New Roman MT Bold"/>
              <a:sym typeface="Times New Roman MT Bold"/>
            </a:endParaRPr>
          </a:p>
        </p:txBody>
      </p:sp>
      <p:sp>
        <p:nvSpPr>
          <p:cNvPr id="12" name="TextBox 24"/>
          <p:cNvSpPr txBox="1"/>
          <p:nvPr/>
        </p:nvSpPr>
        <p:spPr>
          <a:xfrm>
            <a:off x="1057098" y="5345016"/>
            <a:ext cx="7192050" cy="538609"/>
          </a:xfrm>
          <a:prstGeom prst="rect">
            <a:avLst/>
          </a:prstGeom>
        </p:spPr>
        <p:txBody>
          <a:bodyPr wrap="square" lIns="0" tIns="0" rIns="0" bIns="0" rtlCol="0" anchor="t">
            <a:spAutoFit/>
          </a:bodyPr>
          <a:lstStyle/>
          <a:p>
            <a:pPr algn="ctr">
              <a:lnSpc>
                <a:spcPts val="4200"/>
              </a:lnSpc>
              <a:spcBef>
                <a:spcPct val="0"/>
              </a:spcBef>
            </a:pPr>
            <a:r>
              <a:rPr lang="en-US" sz="3000" b="1" dirty="0" smtClean="0">
                <a:solidFill>
                  <a:srgbClr val="000000"/>
                </a:solidFill>
                <a:latin typeface="Times New Roman MT Bold"/>
                <a:ea typeface="Times New Roman MT Bold"/>
                <a:cs typeface="Times New Roman MT Bold"/>
                <a:sym typeface="Times New Roman MT Bold"/>
              </a:rPr>
              <a:t>ARCHITECTURE DE LA SOLUTION</a:t>
            </a:r>
            <a:endParaRPr lang="en-US" sz="3000" b="1" dirty="0">
              <a:solidFill>
                <a:srgbClr val="000000"/>
              </a:solidFill>
              <a:latin typeface="Times New Roman MT Bold"/>
              <a:ea typeface="Times New Roman MT Bold"/>
              <a:cs typeface="Times New Roman MT Bold"/>
              <a:sym typeface="Times New Roman MT Bold"/>
            </a:endParaRPr>
          </a:p>
        </p:txBody>
      </p:sp>
      <p:sp>
        <p:nvSpPr>
          <p:cNvPr id="13" name="TextBox 26"/>
          <p:cNvSpPr txBox="1"/>
          <p:nvPr/>
        </p:nvSpPr>
        <p:spPr>
          <a:xfrm>
            <a:off x="1201329" y="6106040"/>
            <a:ext cx="7472312"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MÉTHODOLOGIE DE MISE EN ŒUVRE</a:t>
            </a:r>
          </a:p>
        </p:txBody>
      </p:sp>
      <p:sp>
        <p:nvSpPr>
          <p:cNvPr id="14" name="TextBox 27"/>
          <p:cNvSpPr txBox="1"/>
          <p:nvPr/>
        </p:nvSpPr>
        <p:spPr>
          <a:xfrm>
            <a:off x="1345906" y="6881971"/>
            <a:ext cx="4328721" cy="512833"/>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RÉSULTATS OBTENUS</a:t>
            </a:r>
          </a:p>
        </p:txBody>
      </p:sp>
      <p:sp>
        <p:nvSpPr>
          <p:cNvPr id="15" name="TextBox 41"/>
          <p:cNvSpPr txBox="1"/>
          <p:nvPr/>
        </p:nvSpPr>
        <p:spPr>
          <a:xfrm>
            <a:off x="1407288" y="7641042"/>
            <a:ext cx="1782244"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LIMITES</a:t>
            </a:r>
          </a:p>
        </p:txBody>
      </p:sp>
      <p:sp>
        <p:nvSpPr>
          <p:cNvPr id="16" name="TextBox 40"/>
          <p:cNvSpPr txBox="1"/>
          <p:nvPr/>
        </p:nvSpPr>
        <p:spPr>
          <a:xfrm>
            <a:off x="1407288" y="8355238"/>
            <a:ext cx="3006968"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PERSPECTIVES</a:t>
            </a:r>
          </a:p>
        </p:txBody>
      </p:sp>
      <p:sp>
        <p:nvSpPr>
          <p:cNvPr id="17" name="TextBox 42"/>
          <p:cNvSpPr txBox="1"/>
          <p:nvPr/>
        </p:nvSpPr>
        <p:spPr>
          <a:xfrm>
            <a:off x="1345906" y="9227376"/>
            <a:ext cx="2697148" cy="5810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MT Bold"/>
                <a:ea typeface="Times New Roman MT Bold"/>
                <a:cs typeface="Times New Roman MT Bold"/>
                <a:sym typeface="Times New Roman MT Bold"/>
              </a:rPr>
              <a:t>CONCLUSION</a:t>
            </a:r>
          </a:p>
        </p:txBody>
      </p:sp>
      <p:sp>
        <p:nvSpPr>
          <p:cNvPr id="18" name="TextBox 11"/>
          <p:cNvSpPr txBox="1"/>
          <p:nvPr/>
        </p:nvSpPr>
        <p:spPr>
          <a:xfrm>
            <a:off x="1345906" y="3422086"/>
            <a:ext cx="5175902" cy="509114"/>
          </a:xfrm>
          <a:prstGeom prst="rect">
            <a:avLst/>
          </a:prstGeom>
        </p:spPr>
        <p:txBody>
          <a:bodyPr wrap="square" lIns="0" tIns="0" rIns="0" bIns="0" rtlCol="0" anchor="t">
            <a:spAutoFit/>
          </a:bodyPr>
          <a:lstStyle/>
          <a:p>
            <a:pPr algn="ctr">
              <a:lnSpc>
                <a:spcPts val="4200"/>
              </a:lnSpc>
              <a:spcBef>
                <a:spcPct val="0"/>
              </a:spcBef>
            </a:pPr>
            <a:r>
              <a:rPr lang="en-US" sz="3000" b="1" dirty="0" smtClean="0">
                <a:latin typeface="Times New Roman MT Bold" panose="020B0604020202020204" charset="0"/>
                <a:cs typeface="Times New Roman" panose="02020603050405020304" pitchFamily="18" charset="0"/>
              </a:rPr>
              <a:t>ANALYSE DE L'EXISTANT</a:t>
            </a:r>
            <a:r>
              <a:rPr lang="en-US" sz="3000" b="1" dirty="0" smtClean="0">
                <a:solidFill>
                  <a:srgbClr val="000000"/>
                </a:solidFill>
                <a:latin typeface="Times New Roman MT Bold" panose="020B0604020202020204" charset="0"/>
                <a:ea typeface="Times New Roman MT Bold"/>
                <a:cs typeface="Times New Roman" panose="02020603050405020304" pitchFamily="18" charset="0"/>
                <a:sym typeface="Times New Roman MT Bold"/>
              </a:rPr>
              <a:t> </a:t>
            </a:r>
            <a:endParaRPr lang="en-US" sz="3000" b="1" dirty="0">
              <a:solidFill>
                <a:srgbClr val="000000"/>
              </a:solidFill>
              <a:latin typeface="Times New Roman MT Bold" panose="020B0604020202020204" charset="0"/>
              <a:ea typeface="Times New Roman MT Bold"/>
              <a:cs typeface="Times New Roman" panose="02020603050405020304" pitchFamily="18" charset="0"/>
              <a:sym typeface="Times New Roman MT Bold"/>
            </a:endParaRPr>
          </a:p>
        </p:txBody>
      </p:sp>
      <p:sp>
        <p:nvSpPr>
          <p:cNvPr id="20" name="TextBox 25"/>
          <p:cNvSpPr txBox="1"/>
          <p:nvPr/>
        </p:nvSpPr>
        <p:spPr>
          <a:xfrm>
            <a:off x="1231354" y="4714565"/>
            <a:ext cx="6843538" cy="500137"/>
          </a:xfrm>
          <a:prstGeom prst="rect">
            <a:avLst/>
          </a:prstGeom>
        </p:spPr>
        <p:txBody>
          <a:bodyPr wrap="square" lIns="0" tIns="0" rIns="0" bIns="0" rtlCol="0" anchor="t">
            <a:spAutoFit/>
          </a:bodyPr>
          <a:lstStyle/>
          <a:p>
            <a:pPr algn="ctr">
              <a:lnSpc>
                <a:spcPts val="4200"/>
              </a:lnSpc>
              <a:spcBef>
                <a:spcPct val="0"/>
              </a:spcBef>
            </a:pPr>
            <a:r>
              <a:rPr lang="en-US" sz="3200" b="1" dirty="0" smtClean="0">
                <a:latin typeface="Times New Roman MT Bold" panose="020B0604020202020204" charset="0"/>
                <a:cs typeface="Times New Roman" panose="02020603050405020304" pitchFamily="18" charset="0"/>
              </a:rPr>
              <a:t>CONCEPTION DE LA SOLUTION</a:t>
            </a:r>
            <a:endParaRPr lang="en-US" sz="3000" b="1" dirty="0">
              <a:solidFill>
                <a:srgbClr val="000000"/>
              </a:solidFill>
              <a:latin typeface="Times New Roman MT Bold" panose="020B0604020202020204" charset="0"/>
              <a:ea typeface="Times New Roman MT Bold"/>
              <a:cs typeface="Times New Roman" panose="02020603050405020304" pitchFamily="18" charset="0"/>
              <a:sym typeface="Times New Roman MT Bold"/>
            </a:endParaRPr>
          </a:p>
        </p:txBody>
      </p:sp>
      <p:grpSp>
        <p:nvGrpSpPr>
          <p:cNvPr id="19" name="Groupe 18"/>
          <p:cNvGrpSpPr/>
          <p:nvPr/>
        </p:nvGrpSpPr>
        <p:grpSpPr>
          <a:xfrm rot="716826">
            <a:off x="16158051" y="-797250"/>
            <a:ext cx="2794711" cy="3015789"/>
            <a:chOff x="10015584" y="-899259"/>
            <a:chExt cx="2794711" cy="3015789"/>
          </a:xfrm>
        </p:grpSpPr>
        <p:sp>
          <p:nvSpPr>
            <p:cNvPr id="21" name="Secteurs 20"/>
            <p:cNvSpPr/>
            <p:nvPr/>
          </p:nvSpPr>
          <p:spPr>
            <a:xfrm rot="10468088">
              <a:off x="10015584" y="-870384"/>
              <a:ext cx="2794711" cy="2986914"/>
            </a:xfrm>
            <a:prstGeom prst="pi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2" name="Bande diagonale 21"/>
            <p:cNvSpPr/>
            <p:nvPr/>
          </p:nvSpPr>
          <p:spPr>
            <a:xfrm rot="410730">
              <a:off x="10684623" y="-899259"/>
              <a:ext cx="1888692" cy="2949101"/>
            </a:xfrm>
            <a:prstGeom prst="diagStrip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Tree>
    <p:extLst>
      <p:ext uri="{BB962C8B-B14F-4D97-AF65-F5344CB8AC3E}">
        <p14:creationId xmlns:p14="http://schemas.microsoft.com/office/powerpoint/2010/main" val="3754195223"/>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p:nvPr/>
        </p:nvSpPr>
        <p:spPr>
          <a:xfrm>
            <a:off x="3931834" y="69850"/>
            <a:ext cx="9880876" cy="958850"/>
          </a:xfrm>
          <a:prstGeom prst="rect">
            <a:avLst/>
          </a:prstGeom>
        </p:spPr>
        <p:txBody>
          <a:bodyPr lIns="0" tIns="0" rIns="0" bIns="0" rtlCol="0" anchor="t">
            <a:spAutoFit/>
          </a:bodyPr>
          <a:lstStyle/>
          <a:p>
            <a:pPr marL="0" lvl="0" indent="0" algn="ctr">
              <a:lnSpc>
                <a:spcPts val="7000"/>
              </a:lnSpc>
              <a:spcBef>
                <a:spcPct val="0"/>
              </a:spcBef>
            </a:pPr>
            <a:r>
              <a:rPr lang="en-US" sz="5000" b="1" dirty="0">
                <a:solidFill>
                  <a:srgbClr val="000000"/>
                </a:solidFill>
                <a:latin typeface="Times New Roman MT Bold"/>
                <a:ea typeface="Times New Roman MT Bold"/>
                <a:cs typeface="Times New Roman MT Bold"/>
                <a:sym typeface="Times New Roman MT Bold"/>
              </a:rPr>
              <a:t>CONTEXTE</a:t>
            </a:r>
          </a:p>
        </p:txBody>
      </p:sp>
      <p:sp>
        <p:nvSpPr>
          <p:cNvPr id="5" name="TextBox 8"/>
          <p:cNvSpPr txBox="1"/>
          <p:nvPr/>
        </p:nvSpPr>
        <p:spPr>
          <a:xfrm>
            <a:off x="258195" y="1406370"/>
            <a:ext cx="17771611" cy="6449073"/>
          </a:xfrm>
          <a:prstGeom prst="rect">
            <a:avLst/>
          </a:prstGeom>
        </p:spPr>
        <p:txBody>
          <a:bodyPr lIns="0" tIns="0" rIns="0" bIns="0" rtlCol="0" anchor="t">
            <a:spAutoFit/>
          </a:bodyPr>
          <a:lstStyle/>
          <a:p>
            <a:pPr algn="just">
              <a:lnSpc>
                <a:spcPts val="4559"/>
              </a:lnSpc>
            </a:pPr>
            <a:r>
              <a:rPr lang="fr-FR" sz="3600" dirty="0">
                <a:latin typeface="Times New Roman" panose="02020603050405020304" pitchFamily="18" charset="0"/>
                <a:cs typeface="Times New Roman" panose="02020603050405020304" pitchFamily="18" charset="0"/>
              </a:rPr>
              <a:t>Avec le développement du numérique, le secteur immobilier connaît une véritable transformation. Aujourd'hui, les utilisateurs souhaitent pouvoir rechercher un logement rapidement, comparer plusieurs offres et effectuer leurs démarches directement depuis leur téléphone. Cependant, dans de nombreuses structures, la gestion des annonces reste encore traditionnelle. Les informations sont souvent dispersées entre les réseaux sociaux, les sites d'annonces, les appels téléphoniques ou les échanges via WhatsApp. Cette organisation rend la recherche de logements plus longue, limite la visibilité des offres et complique la mise en relation entre les propriétaires et les personnes à la recherche d'un logement. C'est pour répondre à ces difficultés qu'est né le projet </a:t>
            </a:r>
            <a:r>
              <a:rPr lang="fr-FR" sz="3600" dirty="0" err="1">
                <a:latin typeface="Times New Roman" panose="02020603050405020304" pitchFamily="18" charset="0"/>
                <a:cs typeface="Times New Roman" panose="02020603050405020304" pitchFamily="18" charset="0"/>
              </a:rPr>
              <a:t>AttouHome</a:t>
            </a:r>
            <a:r>
              <a:rPr lang="fr-FR" sz="3600" dirty="0">
                <a:latin typeface="Times New Roman" panose="02020603050405020304" pitchFamily="18" charset="0"/>
                <a:cs typeface="Times New Roman" panose="02020603050405020304" pitchFamily="18" charset="0"/>
              </a:rPr>
              <a:t>, une plateforme web et mobile destinée à centraliser les annonces immobilières et à faciliter les échanges entre les différents acteurs du secteur.</a:t>
            </a:r>
            <a:endParaRPr lang="en-US" sz="3507" dirty="0">
              <a:solidFill>
                <a:srgbClr val="000000"/>
              </a:solidFill>
              <a:latin typeface="Times New Roman MT"/>
              <a:ea typeface="Times New Roman MT"/>
              <a:cs typeface="Times New Roman MT"/>
              <a:sym typeface="Times New Roman MT"/>
            </a:endParaRPr>
          </a:p>
        </p:txBody>
      </p:sp>
      <p:grpSp>
        <p:nvGrpSpPr>
          <p:cNvPr id="7" name="Groupe 6"/>
          <p:cNvGrpSpPr/>
          <p:nvPr/>
        </p:nvGrpSpPr>
        <p:grpSpPr>
          <a:xfrm>
            <a:off x="-1581150" y="8007843"/>
            <a:ext cx="17792700" cy="4057650"/>
            <a:chOff x="-1981200" y="7855443"/>
            <a:chExt cx="17792700" cy="4057650"/>
          </a:xfrm>
        </p:grpSpPr>
        <p:sp>
          <p:nvSpPr>
            <p:cNvPr id="3" name="Pentagone régulier 2"/>
            <p:cNvSpPr/>
            <p:nvPr/>
          </p:nvSpPr>
          <p:spPr>
            <a:xfrm>
              <a:off x="10363200" y="7855443"/>
              <a:ext cx="5448300" cy="4057650"/>
            </a:xfrm>
            <a:prstGeom prst="pent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avec coins arrondis du même côté 1"/>
            <p:cNvSpPr/>
            <p:nvPr/>
          </p:nvSpPr>
          <p:spPr>
            <a:xfrm>
              <a:off x="-1981200" y="8517430"/>
              <a:ext cx="14192250" cy="2619375"/>
            </a:xfrm>
            <a:prstGeom prst="round2SameRect">
              <a:avLst>
                <a:gd name="adj1" fmla="val 16667"/>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836352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e 1"/>
          <p:cNvSpPr/>
          <p:nvPr/>
        </p:nvSpPr>
        <p:spPr>
          <a:xfrm>
            <a:off x="-1809750" y="2952750"/>
            <a:ext cx="9029700" cy="5429250"/>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7"/>
          <p:cNvSpPr txBox="1"/>
          <p:nvPr/>
        </p:nvSpPr>
        <p:spPr>
          <a:xfrm>
            <a:off x="-1981200" y="5143500"/>
            <a:ext cx="9880876" cy="892175"/>
          </a:xfrm>
          <a:prstGeom prst="rect">
            <a:avLst/>
          </a:prstGeom>
        </p:spPr>
        <p:txBody>
          <a:bodyPr lIns="0" tIns="0" rIns="0" bIns="0" rtlCol="0" anchor="t">
            <a:spAutoFit/>
          </a:bodyPr>
          <a:lstStyle/>
          <a:p>
            <a:pPr marL="0" lvl="0" indent="0" algn="ctr">
              <a:lnSpc>
                <a:spcPts val="7000"/>
              </a:lnSpc>
              <a:spcBef>
                <a:spcPct val="0"/>
              </a:spcBef>
            </a:pPr>
            <a:r>
              <a:rPr lang="en-US" sz="5000" b="1" dirty="0">
                <a:solidFill>
                  <a:srgbClr val="000000"/>
                </a:solidFill>
                <a:latin typeface="Times New Roman Bold"/>
                <a:ea typeface="Times New Roman Bold"/>
                <a:cs typeface="Times New Roman Bold"/>
                <a:sym typeface="Times New Roman Bold"/>
              </a:rPr>
              <a:t>PROBLEMATIQUE</a:t>
            </a:r>
          </a:p>
        </p:txBody>
      </p:sp>
      <p:sp>
        <p:nvSpPr>
          <p:cNvPr id="5" name="Rectangle 4"/>
          <p:cNvSpPr/>
          <p:nvPr/>
        </p:nvSpPr>
        <p:spPr>
          <a:xfrm>
            <a:off x="7067550" y="4373681"/>
            <a:ext cx="10915650" cy="3323987"/>
          </a:xfrm>
          <a:prstGeom prst="rect">
            <a:avLst/>
          </a:prstGeom>
        </p:spPr>
        <p:txBody>
          <a:bodyPr wrap="square">
            <a:spAutoFit/>
          </a:bodyPr>
          <a:lstStyle/>
          <a:p>
            <a:pPr marL="270510" marR="269240" algn="just">
              <a:lnSpc>
                <a:spcPct val="150000"/>
              </a:lnSpc>
              <a:spcAft>
                <a:spcPts val="800"/>
              </a:spcAft>
            </a:pPr>
            <a:r>
              <a:rPr lang="fr-FR" sz="3500" b="1" dirty="0">
                <a:latin typeface="Times New Roman" panose="02020603050405020304" pitchFamily="18" charset="0"/>
                <a:ea typeface="Calibri" panose="020F0502020204030204" pitchFamily="34" charset="0"/>
                <a:cs typeface="Times New Roman" panose="02020603050405020304" pitchFamily="18" charset="0"/>
              </a:rPr>
              <a:t>Quelle solution pourrait être mise en place pour faciliter la recherche de logements à louer, centraliser les offres disponibles et améliorer la gestion des annonces immobilières ?</a:t>
            </a:r>
            <a:endParaRPr lang="en-US" sz="35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4936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13785" y="304485"/>
            <a:ext cx="3654265"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000000"/>
                </a:solidFill>
                <a:latin typeface="Times New Roman Bold"/>
                <a:ea typeface="Times New Roman Bold"/>
                <a:cs typeface="Times New Roman Bold"/>
                <a:sym typeface="Times New Roman Bold"/>
              </a:rPr>
              <a:t>OBJECTIFS</a:t>
            </a:r>
          </a:p>
        </p:txBody>
      </p:sp>
      <p:grpSp>
        <p:nvGrpSpPr>
          <p:cNvPr id="6" name="Group 5"/>
          <p:cNvGrpSpPr/>
          <p:nvPr/>
        </p:nvGrpSpPr>
        <p:grpSpPr>
          <a:xfrm>
            <a:off x="1984636" y="1723687"/>
            <a:ext cx="13542689" cy="2550748"/>
            <a:chOff x="0" y="0"/>
            <a:chExt cx="18056919" cy="3400997"/>
          </a:xfrm>
        </p:grpSpPr>
        <p:grpSp>
          <p:nvGrpSpPr>
            <p:cNvPr id="7" name="Group 6"/>
            <p:cNvGrpSpPr/>
            <p:nvPr/>
          </p:nvGrpSpPr>
          <p:grpSpPr>
            <a:xfrm>
              <a:off x="0" y="0"/>
              <a:ext cx="679212" cy="835953"/>
              <a:chOff x="0" y="0"/>
              <a:chExt cx="660400" cy="812800"/>
            </a:xfrm>
          </p:grpSpPr>
          <p:sp>
            <p:nvSpPr>
              <p:cNvPr id="10" name="Freeform 7"/>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0000"/>
              </a:solidFill>
            </p:spPr>
            <p:txBody>
              <a:bodyPr/>
              <a:lstStyle/>
              <a:p>
                <a:endParaRPr lang="fr-FR"/>
              </a:p>
            </p:txBody>
          </p:sp>
          <p:sp>
            <p:nvSpPr>
              <p:cNvPr id="11" name="TextBox 8"/>
              <p:cNvSpPr txBox="1"/>
              <p:nvPr/>
            </p:nvSpPr>
            <p:spPr>
              <a:xfrm>
                <a:off x="0" y="69850"/>
                <a:ext cx="660400" cy="742950"/>
              </a:xfrm>
              <a:prstGeom prst="rect">
                <a:avLst/>
              </a:prstGeom>
            </p:spPr>
            <p:txBody>
              <a:bodyPr lIns="50800" tIns="50800" rIns="50800" bIns="50800" rtlCol="0" anchor="ctr"/>
              <a:lstStyle/>
              <a:p>
                <a:pPr algn="ctr">
                  <a:lnSpc>
                    <a:spcPts val="3079"/>
                  </a:lnSpc>
                </a:pPr>
                <a:r>
                  <a:rPr lang="en-US" sz="2199" b="1" dirty="0">
                    <a:solidFill>
                      <a:srgbClr val="000000"/>
                    </a:solidFill>
                    <a:latin typeface="Times New Roman Bold"/>
                    <a:ea typeface="Times New Roman Bold"/>
                    <a:cs typeface="Times New Roman Bold"/>
                    <a:sym typeface="Times New Roman Bold"/>
                  </a:rPr>
                  <a:t>1</a:t>
                </a:r>
              </a:p>
            </p:txBody>
          </p:sp>
        </p:grpSp>
        <p:sp>
          <p:nvSpPr>
            <p:cNvPr id="8" name="TextBox 9"/>
            <p:cNvSpPr txBox="1"/>
            <p:nvPr/>
          </p:nvSpPr>
          <p:spPr>
            <a:xfrm>
              <a:off x="1297885" y="27452"/>
              <a:ext cx="5707933" cy="658813"/>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000000"/>
                  </a:solidFill>
                  <a:latin typeface="Times New Roman Bold"/>
                  <a:ea typeface="Times New Roman Bold"/>
                  <a:cs typeface="Times New Roman Bold"/>
                  <a:sym typeface="Times New Roman Bold"/>
                </a:rPr>
                <a:t>OBJECTIF GENERALE</a:t>
              </a:r>
            </a:p>
          </p:txBody>
        </p:sp>
        <p:sp>
          <p:nvSpPr>
            <p:cNvPr id="9" name="TextBox 10"/>
            <p:cNvSpPr txBox="1"/>
            <p:nvPr/>
          </p:nvSpPr>
          <p:spPr>
            <a:xfrm>
              <a:off x="1297885" y="938785"/>
              <a:ext cx="16759034" cy="2462212"/>
            </a:xfrm>
            <a:prstGeom prst="rect">
              <a:avLst/>
            </a:prstGeom>
          </p:spPr>
          <p:txBody>
            <a:bodyPr lIns="0" tIns="0" rIns="0" bIns="0" rtlCol="0" anchor="t">
              <a:spAutoFit/>
            </a:bodyPr>
            <a:lstStyle/>
            <a:p>
              <a:r>
                <a:rPr lang="fr-FR" sz="3000" dirty="0">
                  <a:latin typeface="Times New Roman" panose="02020603050405020304" pitchFamily="18" charset="0"/>
                  <a:cs typeface="Times New Roman" panose="02020603050405020304" pitchFamily="18" charset="0"/>
                </a:rPr>
                <a:t>L’objectif général de ce projet est de concevoir et réaliser une application web et mobile permettant de faciliter la recherche de logements à louer et d’améliorer la gestion des annonces immobilières pour la filiale immobilière du groupe ATTOU CORPORATE</a:t>
              </a:r>
              <a:endParaRPr lang="en-US" sz="3000" dirty="0">
                <a:latin typeface="Times New Roman" panose="02020603050405020304" pitchFamily="18" charset="0"/>
                <a:cs typeface="Times New Roman" panose="02020603050405020304" pitchFamily="18" charset="0"/>
              </a:endParaRPr>
            </a:p>
          </p:txBody>
        </p:sp>
      </p:grpSp>
      <p:sp>
        <p:nvSpPr>
          <p:cNvPr id="12" name="TextBox 14"/>
          <p:cNvSpPr txBox="1"/>
          <p:nvPr/>
        </p:nvSpPr>
        <p:spPr>
          <a:xfrm>
            <a:off x="2956279" y="4778526"/>
            <a:ext cx="4753213" cy="542925"/>
          </a:xfrm>
          <a:prstGeom prst="rect">
            <a:avLst/>
          </a:prstGeom>
        </p:spPr>
        <p:txBody>
          <a:bodyPr lIns="0" tIns="0" rIns="0" bIns="0" rtlCol="0" anchor="t">
            <a:spAutoFit/>
          </a:bodyPr>
          <a:lstStyle/>
          <a:p>
            <a:pPr algn="ctr">
              <a:lnSpc>
                <a:spcPts val="4200"/>
              </a:lnSpc>
              <a:spcBef>
                <a:spcPct val="0"/>
              </a:spcBef>
            </a:pPr>
            <a:r>
              <a:rPr lang="en-US" sz="3000" b="1" dirty="0">
                <a:solidFill>
                  <a:srgbClr val="000000"/>
                </a:solidFill>
                <a:latin typeface="Times New Roman Bold"/>
                <a:ea typeface="Times New Roman Bold"/>
                <a:cs typeface="Times New Roman Bold"/>
                <a:sym typeface="Times New Roman Bold"/>
              </a:rPr>
              <a:t>OBJECTIFS SPECIFIQUES</a:t>
            </a:r>
          </a:p>
        </p:txBody>
      </p:sp>
      <p:sp>
        <p:nvSpPr>
          <p:cNvPr id="13" name="TextBox 15"/>
          <p:cNvSpPr txBox="1"/>
          <p:nvPr/>
        </p:nvSpPr>
        <p:spPr>
          <a:xfrm>
            <a:off x="2956279" y="5363471"/>
            <a:ext cx="12569276" cy="3770263"/>
          </a:xfrm>
          <a:prstGeom prst="rect">
            <a:avLst/>
          </a:prstGeom>
        </p:spPr>
        <p:txBody>
          <a:bodyPr lIns="0" tIns="0" rIns="0" bIns="0" rtlCol="0" anchor="t">
            <a:spAutoFit/>
          </a:bodyPr>
          <a:lstStyle/>
          <a:p>
            <a:pPr algn="just">
              <a:lnSpc>
                <a:spcPts val="4200"/>
              </a:lnSpc>
            </a:pPr>
            <a:r>
              <a:rPr lang="en-US" sz="3000" dirty="0">
                <a:solidFill>
                  <a:srgbClr val="000000"/>
                </a:solidFill>
                <a:latin typeface="Times New Roman"/>
                <a:ea typeface="Times New Roman"/>
                <a:cs typeface="Times New Roman"/>
                <a:sym typeface="Times New Roman"/>
              </a:rPr>
              <a:t>Pour </a:t>
            </a:r>
            <a:r>
              <a:rPr lang="en-US" sz="3000" dirty="0" err="1">
                <a:solidFill>
                  <a:srgbClr val="000000"/>
                </a:solidFill>
                <a:latin typeface="Times New Roman"/>
                <a:ea typeface="Times New Roman"/>
                <a:cs typeface="Times New Roman"/>
                <a:sym typeface="Times New Roman"/>
              </a:rPr>
              <a:t>atteindre</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cet</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objectif</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général</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plusieurs</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objectifs</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spécifiques</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sont</a:t>
            </a:r>
            <a:r>
              <a:rPr lang="en-US" sz="3000" dirty="0">
                <a:solidFill>
                  <a:srgbClr val="000000"/>
                </a:solidFill>
                <a:latin typeface="Times New Roman"/>
                <a:ea typeface="Times New Roman"/>
                <a:cs typeface="Times New Roman"/>
                <a:sym typeface="Times New Roman"/>
              </a:rPr>
              <a:t> </a:t>
            </a:r>
            <a:r>
              <a:rPr lang="en-US" sz="3000" dirty="0" err="1">
                <a:solidFill>
                  <a:srgbClr val="000000"/>
                </a:solidFill>
                <a:latin typeface="Times New Roman"/>
                <a:ea typeface="Times New Roman"/>
                <a:cs typeface="Times New Roman"/>
                <a:sym typeface="Times New Roman"/>
              </a:rPr>
              <a:t>définis</a:t>
            </a:r>
            <a:r>
              <a:rPr lang="en-US" sz="3000" dirty="0">
                <a:solidFill>
                  <a:srgbClr val="000000"/>
                </a:solidFill>
                <a:latin typeface="Times New Roman"/>
                <a:ea typeface="Times New Roman"/>
                <a:cs typeface="Times New Roman"/>
                <a:sym typeface="Times New Roman"/>
              </a:rPr>
              <a:t> à savoir:</a:t>
            </a:r>
          </a:p>
          <a:p>
            <a:pPr marL="647700" lvl="1" indent="-323850" algn="just">
              <a:lnSpc>
                <a:spcPts val="4200"/>
              </a:lnSpc>
              <a:buFont typeface="Arial"/>
              <a:buChar char="•"/>
            </a:pPr>
            <a:r>
              <a:rPr lang="fr-FR" sz="3000" dirty="0">
                <a:latin typeface="Times New Roman" panose="02020603050405020304" pitchFamily="18" charset="0"/>
                <a:cs typeface="Times New Roman" panose="02020603050405020304" pitchFamily="18" charset="0"/>
              </a:rPr>
              <a:t>permettre aux utilisateurs de rechercher des logements selon des critères précis tels que la localisation, le prix, le type de logement et les commodités </a:t>
            </a:r>
            <a:r>
              <a:rPr lang="en-US" sz="3000" dirty="0" smtClean="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647700" lvl="1" indent="-323850" algn="just">
              <a:lnSpc>
                <a:spcPts val="4200"/>
              </a:lnSpc>
              <a:buFont typeface="Arial"/>
              <a:buChar char="•"/>
            </a:pPr>
            <a:r>
              <a:rPr lang="fr-FR" sz="3000" dirty="0">
                <a:latin typeface="Times New Roman" panose="02020603050405020304" pitchFamily="18" charset="0"/>
                <a:cs typeface="Times New Roman" panose="02020603050405020304" pitchFamily="18" charset="0"/>
              </a:rPr>
              <a:t>centraliser les offres de location sur une plateforme unique</a:t>
            </a:r>
            <a:r>
              <a:rPr lang="fr-FR" sz="3200" dirty="0"/>
              <a:t> </a:t>
            </a:r>
            <a:r>
              <a:rPr lang="en-US" sz="3000" dirty="0">
                <a:solidFill>
                  <a:srgbClr val="000000"/>
                </a:solidFill>
                <a:latin typeface="Times New Roman"/>
                <a:ea typeface="Times New Roman"/>
                <a:cs typeface="Times New Roman"/>
                <a:sym typeface="Times New Roman"/>
              </a:rPr>
              <a:t>.</a:t>
            </a:r>
          </a:p>
          <a:p>
            <a:pPr marL="647700" lvl="1" indent="-323850" algn="just">
              <a:lnSpc>
                <a:spcPts val="4200"/>
              </a:lnSpc>
              <a:buFont typeface="Arial"/>
              <a:buChar char="•"/>
            </a:pPr>
            <a:r>
              <a:rPr lang="fr-FR" sz="3000" dirty="0">
                <a:latin typeface="Times New Roman" panose="02020603050405020304" pitchFamily="18" charset="0"/>
                <a:cs typeface="Times New Roman" panose="02020603050405020304" pitchFamily="18" charset="0"/>
              </a:rPr>
              <a:t>simplifier la mise en relation entre les demandeurs de logements et les acteurs immobiliers </a:t>
            </a:r>
            <a:r>
              <a:rPr lang="en-US" sz="3000" dirty="0" err="1" smtClean="0">
                <a:solidFill>
                  <a:srgbClr val="000000"/>
                </a:solidFill>
                <a:latin typeface="Times New Roman"/>
                <a:ea typeface="Times New Roman"/>
                <a:cs typeface="Times New Roman"/>
                <a:sym typeface="Times New Roman"/>
              </a:rPr>
              <a:t>Minimiser</a:t>
            </a:r>
            <a:r>
              <a:rPr lang="en-US" sz="3000" dirty="0" smtClean="0">
                <a:solidFill>
                  <a:srgbClr val="000000"/>
                </a:solidFill>
                <a:latin typeface="Times New Roman"/>
                <a:ea typeface="Times New Roman"/>
                <a:cs typeface="Times New Roman"/>
                <a:sym typeface="Times New Roman"/>
              </a:rPr>
              <a:t> </a:t>
            </a:r>
            <a:r>
              <a:rPr lang="en-US" sz="3000" dirty="0">
                <a:solidFill>
                  <a:srgbClr val="000000"/>
                </a:solidFill>
                <a:latin typeface="Times New Roman"/>
                <a:ea typeface="Times New Roman"/>
                <a:cs typeface="Times New Roman"/>
                <a:sym typeface="Times New Roman"/>
              </a:rPr>
              <a:t>le </a:t>
            </a:r>
            <a:r>
              <a:rPr lang="en-US" sz="3000" dirty="0" err="1">
                <a:solidFill>
                  <a:srgbClr val="000000"/>
                </a:solidFill>
                <a:latin typeface="Times New Roman"/>
                <a:ea typeface="Times New Roman"/>
                <a:cs typeface="Times New Roman"/>
                <a:sym typeface="Times New Roman"/>
              </a:rPr>
              <a:t>risque</a:t>
            </a:r>
            <a:r>
              <a:rPr lang="en-US" sz="3000" dirty="0">
                <a:solidFill>
                  <a:srgbClr val="000000"/>
                </a:solidFill>
                <a:latin typeface="Times New Roman"/>
                <a:ea typeface="Times New Roman"/>
                <a:cs typeface="Times New Roman"/>
                <a:sym typeface="Times New Roman"/>
              </a:rPr>
              <a:t> de </a:t>
            </a:r>
            <a:r>
              <a:rPr lang="en-US" sz="3000" dirty="0" err="1">
                <a:solidFill>
                  <a:srgbClr val="000000"/>
                </a:solidFill>
                <a:latin typeface="Times New Roman"/>
                <a:ea typeface="Times New Roman"/>
                <a:cs typeface="Times New Roman"/>
                <a:sym typeface="Times New Roman"/>
              </a:rPr>
              <a:t>fuite</a:t>
            </a:r>
            <a:r>
              <a:rPr lang="en-US" sz="3000" dirty="0">
                <a:solidFill>
                  <a:srgbClr val="000000"/>
                </a:solidFill>
                <a:latin typeface="Times New Roman"/>
                <a:ea typeface="Times New Roman"/>
                <a:cs typeface="Times New Roman"/>
                <a:sym typeface="Times New Roman"/>
              </a:rPr>
              <a:t> de </a:t>
            </a:r>
            <a:r>
              <a:rPr lang="en-US" sz="3000" dirty="0" err="1">
                <a:solidFill>
                  <a:srgbClr val="000000"/>
                </a:solidFill>
                <a:latin typeface="Times New Roman"/>
                <a:ea typeface="Times New Roman"/>
                <a:cs typeface="Times New Roman"/>
                <a:sym typeface="Times New Roman"/>
              </a:rPr>
              <a:t>données</a:t>
            </a:r>
            <a:r>
              <a:rPr lang="en-US" sz="3000" dirty="0" smtClean="0">
                <a:solidFill>
                  <a:srgbClr val="000000"/>
                </a:solidFill>
                <a:latin typeface="Times New Roman"/>
                <a:ea typeface="Times New Roman"/>
                <a:cs typeface="Times New Roman"/>
                <a:sym typeface="Times New Roman"/>
              </a:rPr>
              <a:t>.</a:t>
            </a:r>
            <a:endParaRPr lang="en-US" sz="3000" dirty="0">
              <a:solidFill>
                <a:srgbClr val="000000"/>
              </a:solidFill>
              <a:latin typeface="Times New Roman"/>
              <a:ea typeface="Times New Roman"/>
              <a:cs typeface="Times New Roman"/>
              <a:sym typeface="Times New Roman"/>
            </a:endParaRPr>
          </a:p>
        </p:txBody>
      </p:sp>
      <p:sp>
        <p:nvSpPr>
          <p:cNvPr id="15" name="Freeform 7"/>
          <p:cNvSpPr/>
          <p:nvPr/>
        </p:nvSpPr>
        <p:spPr>
          <a:xfrm>
            <a:off x="1984636" y="4778526"/>
            <a:ext cx="509409" cy="584946"/>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0000"/>
          </a:solidFill>
        </p:spPr>
        <p:txBody>
          <a:bodyPr/>
          <a:lstStyle/>
          <a:p>
            <a:pPr algn="ctr"/>
            <a:r>
              <a:rPr lang="fr-FR" sz="2400" b="1" dirty="0" smtClean="0">
                <a:latin typeface="Times New Roman" panose="02020603050405020304" pitchFamily="18" charset="0"/>
                <a:cs typeface="Times New Roman" panose="02020603050405020304" pitchFamily="18" charset="0"/>
              </a:rPr>
              <a:t>2</a:t>
            </a:r>
            <a:endParaRPr lang="fr-F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273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18435" y="0"/>
            <a:ext cx="6168865" cy="1795363"/>
          </a:xfrm>
          <a:prstGeom prst="rect">
            <a:avLst/>
          </a:prstGeom>
        </p:spPr>
        <p:txBody>
          <a:bodyPr wrap="square" lIns="0" tIns="0" rIns="0" bIns="0" rtlCol="0" anchor="t">
            <a:spAutoFit/>
          </a:bodyPr>
          <a:lstStyle/>
          <a:p>
            <a:pPr algn="ctr">
              <a:lnSpc>
                <a:spcPts val="7000"/>
              </a:lnSpc>
              <a:spcBef>
                <a:spcPct val="0"/>
              </a:spcBef>
            </a:pPr>
            <a:r>
              <a:rPr lang="en-US" sz="5000" b="1" dirty="0" smtClean="0">
                <a:solidFill>
                  <a:srgbClr val="000000"/>
                </a:solidFill>
                <a:latin typeface="Times New Roman Bold"/>
                <a:ea typeface="Times New Roman Bold"/>
                <a:cs typeface="Times New Roman Bold"/>
                <a:sym typeface="Times New Roman Bold"/>
              </a:rPr>
              <a:t>ANALYSE DE L’EXISTANT</a:t>
            </a:r>
            <a:endParaRPr lang="en-US" sz="5000" b="1" dirty="0">
              <a:solidFill>
                <a:srgbClr val="000000"/>
              </a:solidFill>
              <a:latin typeface="Times New Roman Bold"/>
              <a:ea typeface="Times New Roman Bold"/>
              <a:cs typeface="Times New Roman Bold"/>
              <a:sym typeface="Times New Roman Bold"/>
            </a:endParaRPr>
          </a:p>
        </p:txBody>
      </p:sp>
      <p:pic>
        <p:nvPicPr>
          <p:cNvPr id="6" name="Image 5"/>
          <p:cNvPicPr/>
          <p:nvPr/>
        </p:nvPicPr>
        <p:blipFill>
          <a:blip r:embed="rId2"/>
          <a:stretch>
            <a:fillRect/>
          </a:stretch>
        </p:blipFill>
        <p:spPr>
          <a:xfrm>
            <a:off x="889000" y="2381250"/>
            <a:ext cx="3149600" cy="2381249"/>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750" y="2381250"/>
            <a:ext cx="3124200" cy="2819400"/>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5370" y="5481737"/>
            <a:ext cx="2466460" cy="2385856"/>
          </a:xfrm>
          <a:prstGeom prst="rect">
            <a:avLst/>
          </a:prstGeom>
        </p:spPr>
      </p:pic>
      <p:sp>
        <p:nvSpPr>
          <p:cNvPr id="9" name="Rectangle 8"/>
          <p:cNvSpPr/>
          <p:nvPr/>
        </p:nvSpPr>
        <p:spPr>
          <a:xfrm>
            <a:off x="8115300" y="4300834"/>
            <a:ext cx="9144000" cy="2400657"/>
          </a:xfrm>
          <a:prstGeom prst="rect">
            <a:avLst/>
          </a:prstGeom>
        </p:spPr>
        <p:txBody>
          <a:bodyPr>
            <a:spAutoFit/>
          </a:bodyPr>
          <a:lstStyle/>
          <a:p>
            <a:r>
              <a:rPr lang="fr-FR" sz="3000" dirty="0">
                <a:latin typeface="Times New Roman" panose="02020603050405020304" pitchFamily="18" charset="0"/>
                <a:cs typeface="Times New Roman" panose="02020603050405020304" pitchFamily="18" charset="0"/>
              </a:rPr>
              <a:t>L'analyse de l'existant nous a permis d'identifier plusieurs limites dans la gestion des activités immobilières. Les annonces étaient gérées sur des fichiers Excel et les échanges se faisaient principalement par téléphone ou via WhatsApp</a:t>
            </a:r>
          </a:p>
        </p:txBody>
      </p:sp>
    </p:spTree>
    <p:extLst>
      <p:ext uri="{BB962C8B-B14F-4D97-AF65-F5344CB8AC3E}">
        <p14:creationId xmlns:p14="http://schemas.microsoft.com/office/powerpoint/2010/main" val="36917914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019669" y="242797"/>
            <a:ext cx="8248659" cy="819327"/>
          </a:xfrm>
          <a:prstGeom prst="rect">
            <a:avLst/>
          </a:prstGeom>
        </p:spPr>
        <p:txBody>
          <a:bodyPr lIns="0" tIns="0" rIns="0" bIns="0" rtlCol="0" anchor="t">
            <a:spAutoFit/>
          </a:bodyPr>
          <a:lstStyle/>
          <a:p>
            <a:pPr algn="ctr">
              <a:lnSpc>
                <a:spcPts val="7000"/>
              </a:lnSpc>
              <a:spcBef>
                <a:spcPct val="0"/>
              </a:spcBef>
            </a:pPr>
            <a:r>
              <a:rPr lang="en-US" sz="5000" b="1" dirty="0" smtClean="0">
                <a:solidFill>
                  <a:srgbClr val="000000"/>
                </a:solidFill>
                <a:latin typeface="Times New Roman MT Bold"/>
                <a:ea typeface="Times New Roman MT Bold"/>
                <a:cs typeface="Times New Roman MT Bold"/>
                <a:sym typeface="Times New Roman MT Bold"/>
              </a:rPr>
              <a:t>SOLUTION PROPOSEE</a:t>
            </a:r>
            <a:endParaRPr lang="en-US" sz="5000" b="1" dirty="0">
              <a:solidFill>
                <a:srgbClr val="000000"/>
              </a:solidFill>
              <a:latin typeface="Times New Roman MT Bold"/>
              <a:ea typeface="Times New Roman MT Bold"/>
              <a:cs typeface="Times New Roman MT Bold"/>
              <a:sym typeface="Times New Roman MT Bold"/>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9874" y="1607594"/>
            <a:ext cx="3646275" cy="7856171"/>
          </a:xfrm>
          <a:prstGeom prst="rect">
            <a:avLst/>
          </a:prstGeom>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4363" y="1607594"/>
            <a:ext cx="3688187" cy="7844535"/>
          </a:xfrm>
          <a:prstGeom prst="rect">
            <a:avLst/>
          </a:prstGeom>
        </p:spPr>
      </p:pic>
      <p:sp>
        <p:nvSpPr>
          <p:cNvPr id="7" name="Rectangle 6"/>
          <p:cNvSpPr/>
          <p:nvPr/>
        </p:nvSpPr>
        <p:spPr>
          <a:xfrm>
            <a:off x="11506199" y="4329532"/>
            <a:ext cx="6534151" cy="2400657"/>
          </a:xfrm>
          <a:prstGeom prst="rect">
            <a:avLst/>
          </a:prstGeom>
        </p:spPr>
        <p:txBody>
          <a:bodyPr wrap="square">
            <a:spAutoFit/>
          </a:bodyPr>
          <a:lstStyle/>
          <a:p>
            <a:r>
              <a:rPr lang="fr-FR" sz="3000" dirty="0">
                <a:latin typeface="Times New Roman" panose="02020603050405020304" pitchFamily="18" charset="0"/>
                <a:cs typeface="Times New Roman" panose="02020603050405020304" pitchFamily="18" charset="0"/>
              </a:rPr>
              <a:t>La solution développée est composée de deux applications mobiles destinées aux locataires et aux propriétaires, ainsi qu'un back-office permettant à l'administrateur de gérer la plateforme.</a:t>
            </a:r>
          </a:p>
        </p:txBody>
      </p:sp>
    </p:spTree>
    <p:extLst>
      <p:ext uri="{BB962C8B-B14F-4D97-AF65-F5344CB8AC3E}">
        <p14:creationId xmlns:p14="http://schemas.microsoft.com/office/powerpoint/2010/main" val="34579162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5"/>
          <p:cNvSpPr txBox="1"/>
          <p:nvPr/>
        </p:nvSpPr>
        <p:spPr>
          <a:xfrm>
            <a:off x="4374604" y="218765"/>
            <a:ext cx="10846346" cy="538609"/>
          </a:xfrm>
          <a:prstGeom prst="rect">
            <a:avLst/>
          </a:prstGeom>
        </p:spPr>
        <p:txBody>
          <a:bodyPr wrap="square" lIns="0" tIns="0" rIns="0" bIns="0" rtlCol="0" anchor="t">
            <a:spAutoFit/>
          </a:bodyPr>
          <a:lstStyle/>
          <a:p>
            <a:pPr algn="ctr">
              <a:lnSpc>
                <a:spcPts val="4200"/>
              </a:lnSpc>
              <a:spcBef>
                <a:spcPct val="0"/>
              </a:spcBef>
            </a:pPr>
            <a:r>
              <a:rPr lang="en-US" sz="5000" b="1" dirty="0" smtClean="0">
                <a:latin typeface="Times New Roman" panose="02020603050405020304" pitchFamily="18" charset="0"/>
                <a:cs typeface="Times New Roman" panose="02020603050405020304" pitchFamily="18" charset="0"/>
              </a:rPr>
              <a:t>CONCEPTION DE LA SOLUTION</a:t>
            </a:r>
            <a:endParaRPr lang="en-US" sz="5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p:txBody>
      </p:sp>
      <p:sp>
        <p:nvSpPr>
          <p:cNvPr id="6" name="Espace réservé du contenu 3"/>
          <p:cNvSpPr>
            <a:spLocks noGrp="1"/>
          </p:cNvSpPr>
          <p:nvPr>
            <p:ph sz="half" idx="1"/>
          </p:nvPr>
        </p:nvSpPr>
        <p:spPr>
          <a:xfrm>
            <a:off x="647700" y="1825625"/>
            <a:ext cx="5181600" cy="4351338"/>
          </a:xfrm>
        </p:spPr>
        <p:txBody>
          <a:bodyPr/>
          <a:lstStyle/>
          <a:p>
            <a:pPr algn="ctr"/>
            <a:r>
              <a:rPr lang="fr-FR" altLang="en-US" b="1" dirty="0">
                <a:latin typeface="Arial" panose="020B0604020202020204" pitchFamily="34" charset="0"/>
                <a:cs typeface="Arial" panose="020B0604020202020204" pitchFamily="34" charset="0"/>
              </a:rPr>
              <a:t>MODÉLISATION</a:t>
            </a:r>
          </a:p>
          <a:p>
            <a:pPr algn="ctr"/>
            <a:endParaRPr lang="fr-FR" altLang="en-US" dirty="0">
              <a:latin typeface="Arial" panose="020B0604020202020204" pitchFamily="34" charset="0"/>
              <a:cs typeface="Arial" panose="020B0604020202020204" pitchFamily="34" charset="0"/>
            </a:endParaRPr>
          </a:p>
          <a:p>
            <a:pPr algn="ctr"/>
            <a:endParaRPr lang="fr-FR" altLang="en-US" dirty="0">
              <a:latin typeface="Arial" panose="020B0604020202020204" pitchFamily="34" charset="0"/>
              <a:cs typeface="Arial" panose="020B0604020202020204" pitchFamily="34" charset="0"/>
            </a:endParaRPr>
          </a:p>
          <a:p>
            <a:pPr algn="ctr"/>
            <a:r>
              <a:rPr lang="fr-FR" altLang="en-US" dirty="0">
                <a:latin typeface="Arial" panose="020B0604020202020204" pitchFamily="34" charset="0"/>
                <a:cs typeface="Arial" panose="020B0604020202020204" pitchFamily="34" charset="0"/>
              </a:rPr>
              <a:t>	</a:t>
            </a:r>
          </a:p>
        </p:txBody>
      </p:sp>
      <p:pic>
        <p:nvPicPr>
          <p:cNvPr id="7" name="Image 6"/>
          <p:cNvPicPr>
            <a:picLocks noChangeAspect="1"/>
          </p:cNvPicPr>
          <p:nvPr/>
        </p:nvPicPr>
        <p:blipFill>
          <a:blip r:embed="rId2"/>
          <a:stretch>
            <a:fillRect/>
          </a:stretch>
        </p:blipFill>
        <p:spPr>
          <a:xfrm>
            <a:off x="1068717" y="3048000"/>
            <a:ext cx="5713083" cy="4972050"/>
          </a:xfrm>
          <a:prstGeom prst="rect">
            <a:avLst/>
          </a:prstGeom>
        </p:spPr>
      </p:pic>
      <p:sp>
        <p:nvSpPr>
          <p:cNvPr id="8" name="Espace réservé du contenu 4"/>
          <p:cNvSpPr txBox="1">
            <a:spLocks/>
          </p:cNvSpPr>
          <p:nvPr/>
        </p:nvSpPr>
        <p:spPr>
          <a:xfrm>
            <a:off x="11258550" y="1825625"/>
            <a:ext cx="5181600" cy="1222375"/>
          </a:xfrm>
          <a:prstGeom prst="rect">
            <a:avLst/>
          </a:prstGeom>
        </p:spPr>
        <p:txBody>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lgn="ctr"/>
            <a:r>
              <a:rPr lang="fr-FR" altLang="en-US" b="1" dirty="0" smtClean="0">
                <a:latin typeface="Arial" panose="020B0604020202020204" pitchFamily="34" charset="0"/>
                <a:cs typeface="Arial" panose="020B0604020202020204" pitchFamily="34" charset="0"/>
              </a:rPr>
              <a:t>MÉTHODOLOGIE AGILE</a:t>
            </a:r>
            <a:endParaRPr lang="fr-FR" altLang="en-US" b="1" dirty="0">
              <a:latin typeface="Arial" panose="020B0604020202020204" pitchFamily="34" charset="0"/>
              <a:cs typeface="Arial" panose="020B0604020202020204" pitchFamily="34" charset="0"/>
            </a:endParaRPr>
          </a:p>
        </p:txBody>
      </p:sp>
      <p:pic>
        <p:nvPicPr>
          <p:cNvPr id="9" name="Image 8" descr="Gemini_Generated_Image_p3d6fhp3d6fhp3d6"/>
          <p:cNvPicPr>
            <a:picLocks noChangeAspect="1"/>
          </p:cNvPicPr>
          <p:nvPr/>
        </p:nvPicPr>
        <p:blipFill>
          <a:blip r:embed="rId3"/>
          <a:srcRect l="5805" t="10940" r="6484" b="9671"/>
          <a:stretch>
            <a:fillRect/>
          </a:stretch>
        </p:blipFill>
        <p:spPr>
          <a:xfrm>
            <a:off x="11258550" y="3417263"/>
            <a:ext cx="6515100" cy="5898859"/>
          </a:xfrm>
          <a:prstGeom prst="rect">
            <a:avLst/>
          </a:prstGeom>
        </p:spPr>
      </p:pic>
    </p:spTree>
    <p:extLst>
      <p:ext uri="{BB962C8B-B14F-4D97-AF65-F5344CB8AC3E}">
        <p14:creationId xmlns:p14="http://schemas.microsoft.com/office/powerpoint/2010/main" val="15114896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4100" y="32517"/>
            <a:ext cx="13944600" cy="10254483"/>
          </a:xfrm>
          <a:prstGeom prst="rect">
            <a:avLst/>
          </a:prstGeom>
        </p:spPr>
      </p:pic>
    </p:spTree>
    <p:extLst>
      <p:ext uri="{BB962C8B-B14F-4D97-AF65-F5344CB8AC3E}">
        <p14:creationId xmlns:p14="http://schemas.microsoft.com/office/powerpoint/2010/main" val="39385883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4"/>
          <p:cNvSpPr txBox="1"/>
          <p:nvPr/>
        </p:nvSpPr>
        <p:spPr>
          <a:xfrm>
            <a:off x="2866350" y="385883"/>
            <a:ext cx="12183150" cy="538609"/>
          </a:xfrm>
          <a:prstGeom prst="rect">
            <a:avLst/>
          </a:prstGeom>
        </p:spPr>
        <p:txBody>
          <a:bodyPr wrap="square" lIns="0" tIns="0" rIns="0" bIns="0" rtlCol="0" anchor="t">
            <a:spAutoFit/>
          </a:bodyPr>
          <a:lstStyle/>
          <a:p>
            <a:pPr algn="ctr">
              <a:lnSpc>
                <a:spcPts val="4200"/>
              </a:lnSpc>
              <a:spcBef>
                <a:spcPct val="0"/>
              </a:spcBef>
            </a:pPr>
            <a:r>
              <a:rPr lang="en-US" sz="5000" b="1" dirty="0" smtClean="0">
                <a:solidFill>
                  <a:srgbClr val="000000"/>
                </a:solidFill>
                <a:latin typeface="Times New Roman MT Bold"/>
                <a:ea typeface="Times New Roman MT Bold"/>
                <a:cs typeface="Times New Roman MT Bold"/>
                <a:sym typeface="Times New Roman MT Bold"/>
              </a:rPr>
              <a:t>ARCHITECTURE DE LA SOLUTION</a:t>
            </a:r>
            <a:endParaRPr lang="en-US" sz="5000" b="1" dirty="0">
              <a:solidFill>
                <a:srgbClr val="000000"/>
              </a:solidFill>
              <a:latin typeface="Times New Roman MT Bold"/>
              <a:ea typeface="Times New Roman MT Bold"/>
              <a:cs typeface="Times New Roman MT Bold"/>
              <a:sym typeface="Times New Roman MT Bold"/>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400" y="2488706"/>
            <a:ext cx="8258850" cy="4919349"/>
          </a:xfrm>
          <a:prstGeom prst="rect">
            <a:avLst/>
          </a:prstGeom>
        </p:spPr>
      </p:pic>
      <p:sp>
        <p:nvSpPr>
          <p:cNvPr id="6" name="Rectangle 5"/>
          <p:cNvSpPr/>
          <p:nvPr/>
        </p:nvSpPr>
        <p:spPr>
          <a:xfrm>
            <a:off x="10634325" y="3663100"/>
            <a:ext cx="6986925" cy="2862322"/>
          </a:xfrm>
          <a:prstGeom prst="rect">
            <a:avLst/>
          </a:prstGeom>
        </p:spPr>
        <p:txBody>
          <a:bodyPr wrap="square">
            <a:spAutoFit/>
          </a:bodyPr>
          <a:lstStyle/>
          <a:p>
            <a:pPr algn="just"/>
            <a:r>
              <a:rPr lang="fr-FR" sz="3000" dirty="0" smtClean="0">
                <a:latin typeface="Times New Roman" panose="02020603050405020304" pitchFamily="18" charset="0"/>
                <a:cs typeface="Times New Roman" panose="02020603050405020304" pitchFamily="18" charset="0"/>
              </a:rPr>
              <a:t>L'application repose sur une architecture client-serveur. Les utilisateurs utilisent les applications mobiles, qui communiquent avec une API développée en Node.js. Les données sont stockées dans PostgreSQL et les images sont hébergées sur </a:t>
            </a:r>
            <a:r>
              <a:rPr lang="fr-FR" sz="3000" dirty="0" err="1" smtClean="0">
                <a:latin typeface="Times New Roman" panose="02020603050405020304" pitchFamily="18" charset="0"/>
                <a:cs typeface="Times New Roman" panose="02020603050405020304" pitchFamily="18" charset="0"/>
              </a:rPr>
              <a:t>Cloudinary</a:t>
            </a:r>
            <a:r>
              <a:rPr lang="fr-FR" sz="3000" dirty="0" smtClean="0">
                <a:latin typeface="Times New Roman" panose="02020603050405020304" pitchFamily="18" charset="0"/>
                <a:cs typeface="Times New Roman" panose="02020603050405020304" pitchFamily="18" charset="0"/>
              </a:rPr>
              <a:t>.</a:t>
            </a:r>
            <a:endParaRPr lang="fr-FR"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2705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6"/>
          <p:cNvSpPr txBox="1"/>
          <p:nvPr/>
        </p:nvSpPr>
        <p:spPr>
          <a:xfrm>
            <a:off x="3085058" y="372269"/>
            <a:ext cx="12345441" cy="538609"/>
          </a:xfrm>
          <a:prstGeom prst="rect">
            <a:avLst/>
          </a:prstGeom>
        </p:spPr>
        <p:txBody>
          <a:bodyPr wrap="square" lIns="0" tIns="0" rIns="0" bIns="0" rtlCol="0" anchor="t">
            <a:spAutoFit/>
          </a:bodyPr>
          <a:lstStyle/>
          <a:p>
            <a:pPr algn="ctr">
              <a:lnSpc>
                <a:spcPts val="4200"/>
              </a:lnSpc>
              <a:spcBef>
                <a:spcPct val="0"/>
              </a:spcBef>
            </a:pPr>
            <a:r>
              <a:rPr lang="en-US" sz="5000" b="1" dirty="0">
                <a:solidFill>
                  <a:srgbClr val="000000"/>
                </a:solidFill>
                <a:latin typeface="Times New Roman MT Bold"/>
                <a:ea typeface="Times New Roman MT Bold"/>
                <a:cs typeface="Times New Roman MT Bold"/>
                <a:sym typeface="Times New Roman MT Bold"/>
              </a:rPr>
              <a:t>MÉTHODOLOGIE DE MISE EN ŒUVRE</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2760" y="1295400"/>
            <a:ext cx="9682730" cy="8217082"/>
          </a:xfrm>
          <a:prstGeom prst="rect">
            <a:avLst/>
          </a:prstGeom>
        </p:spPr>
      </p:pic>
      <p:sp>
        <p:nvSpPr>
          <p:cNvPr id="6" name="Rectangle 1"/>
          <p:cNvSpPr>
            <a:spLocks noChangeArrowheads="1"/>
          </p:cNvSpPr>
          <p:nvPr/>
        </p:nvSpPr>
        <p:spPr bwMode="auto">
          <a:xfrm>
            <a:off x="11454590" y="4203612"/>
            <a:ext cx="631906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projet</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été</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réalisé</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plusieurs</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étapes</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l'analyse</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besoins</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conception UML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développement</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l'application</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tests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puis</a:t>
            </a:r>
            <a:r>
              <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validation.</a:t>
            </a:r>
          </a:p>
        </p:txBody>
      </p:sp>
    </p:spTree>
    <p:extLst>
      <p:ext uri="{BB962C8B-B14F-4D97-AF65-F5344CB8AC3E}">
        <p14:creationId xmlns:p14="http://schemas.microsoft.com/office/powerpoint/2010/main" val="23598408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7"/>
          <p:cNvSpPr txBox="1"/>
          <p:nvPr/>
        </p:nvSpPr>
        <p:spPr>
          <a:xfrm>
            <a:off x="5198238" y="352778"/>
            <a:ext cx="8670162" cy="538609"/>
          </a:xfrm>
          <a:prstGeom prst="rect">
            <a:avLst/>
          </a:prstGeom>
        </p:spPr>
        <p:txBody>
          <a:bodyPr wrap="square" lIns="0" tIns="0" rIns="0" bIns="0" rtlCol="0" anchor="t">
            <a:spAutoFit/>
          </a:bodyPr>
          <a:lstStyle/>
          <a:p>
            <a:pPr algn="ctr">
              <a:lnSpc>
                <a:spcPts val="4200"/>
              </a:lnSpc>
              <a:spcBef>
                <a:spcPct val="0"/>
              </a:spcBef>
            </a:pPr>
            <a:r>
              <a:rPr lang="en-US" sz="5000" b="1" dirty="0">
                <a:solidFill>
                  <a:srgbClr val="000000"/>
                </a:solidFill>
                <a:latin typeface="Times New Roman MT Bold"/>
                <a:ea typeface="Times New Roman MT Bold"/>
                <a:cs typeface="Times New Roman MT Bold"/>
                <a:sym typeface="Times New Roman MT Bold"/>
              </a:rPr>
              <a:t>RÉSULTATS OBTENUS</a:t>
            </a: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588" y="1268502"/>
            <a:ext cx="3543300" cy="7929143"/>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8150" y="1268502"/>
            <a:ext cx="3524250" cy="7866219"/>
          </a:xfrm>
          <a:prstGeom prst="rect">
            <a:avLst/>
          </a:prstGeom>
        </p:spPr>
      </p:pic>
    </p:spTree>
    <p:extLst>
      <p:ext uri="{BB962C8B-B14F-4D97-AF65-F5344CB8AC3E}">
        <p14:creationId xmlns:p14="http://schemas.microsoft.com/office/powerpoint/2010/main" val="28045514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843" y="762066"/>
            <a:ext cx="3981558" cy="8416399"/>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762066"/>
            <a:ext cx="4014361" cy="8416399"/>
          </a:xfrm>
          <a:prstGeom prst="rect">
            <a:avLst/>
          </a:prstGeom>
        </p:spPr>
      </p:pic>
    </p:spTree>
    <p:extLst>
      <p:ext uri="{BB962C8B-B14F-4D97-AF65-F5344CB8AC3E}">
        <p14:creationId xmlns:p14="http://schemas.microsoft.com/office/powerpoint/2010/main" val="2540704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4030" y="495300"/>
            <a:ext cx="4289361" cy="8850854"/>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2280" y="495300"/>
            <a:ext cx="3832244" cy="8692342"/>
          </a:xfrm>
          <a:prstGeom prst="rect">
            <a:avLst/>
          </a:prstGeom>
        </p:spPr>
      </p:pic>
    </p:spTree>
    <p:extLst>
      <p:ext uri="{BB962C8B-B14F-4D97-AF65-F5344CB8AC3E}">
        <p14:creationId xmlns:p14="http://schemas.microsoft.com/office/powerpoint/2010/main" val="36575371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08829" y="4362450"/>
            <a:ext cx="8671947" cy="861774"/>
          </a:xfrm>
          <a:prstGeom prst="rect">
            <a:avLst/>
          </a:prstGeom>
        </p:spPr>
        <p:txBody>
          <a:bodyPr wrap="square">
            <a:spAutoFit/>
          </a:bodyPr>
          <a:lstStyle/>
          <a:p>
            <a:r>
              <a:rPr lang="fr-FR" altLang="en-US" sz="5000" b="1" dirty="0">
                <a:latin typeface="Times New Roman" panose="02020603050405020304" pitchFamily="18" charset="0"/>
                <a:cs typeface="Times New Roman" panose="02020603050405020304" pitchFamily="18" charset="0"/>
              </a:rPr>
              <a:t>DÉMONSTRATION</a:t>
            </a:r>
            <a:endParaRPr lang="fr-FR" sz="5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6640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1"/>
          <p:cNvSpPr txBox="1"/>
          <p:nvPr/>
        </p:nvSpPr>
        <p:spPr>
          <a:xfrm>
            <a:off x="6493638" y="402042"/>
            <a:ext cx="4936362" cy="538609"/>
          </a:xfrm>
          <a:prstGeom prst="rect">
            <a:avLst/>
          </a:prstGeom>
        </p:spPr>
        <p:txBody>
          <a:bodyPr wrap="square" lIns="0" tIns="0" rIns="0" bIns="0" rtlCol="0" anchor="t">
            <a:spAutoFit/>
          </a:bodyPr>
          <a:lstStyle/>
          <a:p>
            <a:pPr algn="ctr">
              <a:lnSpc>
                <a:spcPts val="4200"/>
              </a:lnSpc>
              <a:spcBef>
                <a:spcPct val="0"/>
              </a:spcBef>
            </a:pPr>
            <a:r>
              <a:rPr lang="en-US" sz="5000" b="1" dirty="0">
                <a:solidFill>
                  <a:srgbClr val="000000"/>
                </a:solidFill>
                <a:latin typeface="Times New Roman MT Bold"/>
                <a:ea typeface="Times New Roman MT Bold"/>
                <a:cs typeface="Times New Roman MT Bold"/>
                <a:sym typeface="Times New Roman MT Bold"/>
              </a:rPr>
              <a:t>LIMITES</a:t>
            </a:r>
          </a:p>
        </p:txBody>
      </p:sp>
      <p:sp>
        <p:nvSpPr>
          <p:cNvPr id="5" name="Rectangle 4"/>
          <p:cNvSpPr/>
          <p:nvPr/>
        </p:nvSpPr>
        <p:spPr>
          <a:xfrm>
            <a:off x="2277050" y="2299661"/>
            <a:ext cx="5981125" cy="630942"/>
          </a:xfrm>
          <a:prstGeom prst="rect">
            <a:avLst/>
          </a:prstGeom>
        </p:spPr>
        <p:txBody>
          <a:bodyPr wrap="none">
            <a:spAutoFit/>
          </a:bodyPr>
          <a:lstStyle/>
          <a:p>
            <a:r>
              <a:rPr lang="fr-FR" sz="3500" b="1" dirty="0" smtClean="0">
                <a:latin typeface="Times New Roman" panose="02020603050405020304" pitchFamily="18" charset="0"/>
                <a:cs typeface="Times New Roman" panose="02020603050405020304" pitchFamily="18" charset="0"/>
              </a:rPr>
              <a:t> </a:t>
            </a:r>
            <a:r>
              <a:rPr lang="fr-FR" sz="3500" b="1" dirty="0">
                <a:latin typeface="Times New Roman" panose="02020603050405020304" pitchFamily="18" charset="0"/>
                <a:cs typeface="Times New Roman" panose="02020603050405020304" pitchFamily="18" charset="0"/>
              </a:rPr>
              <a:t>Paiement en ligne non intégré</a:t>
            </a:r>
          </a:p>
        </p:txBody>
      </p:sp>
      <p:sp>
        <p:nvSpPr>
          <p:cNvPr id="6" name="Rectangle 5"/>
          <p:cNvSpPr/>
          <p:nvPr/>
        </p:nvSpPr>
        <p:spPr>
          <a:xfrm>
            <a:off x="2495550" y="3065804"/>
            <a:ext cx="11220450" cy="1938992"/>
          </a:xfrm>
          <a:prstGeom prst="rect">
            <a:avLst/>
          </a:prstGeom>
        </p:spPr>
        <p:txBody>
          <a:bodyPr wrap="square">
            <a:spAutoFit/>
          </a:bodyPr>
          <a:lstStyle/>
          <a:p>
            <a:r>
              <a:rPr lang="fr-FR" sz="3000" dirty="0">
                <a:latin typeface="Times New Roman" panose="02020603050405020304" pitchFamily="18" charset="0"/>
                <a:cs typeface="Times New Roman" panose="02020603050405020304" pitchFamily="18" charset="0"/>
              </a:rPr>
              <a:t>La première version de l'application ne permet pas encore d'effectuer des paiements ou des réservations directement en ligne. Les transactions entre les utilisateurs restent donc en dehors de la plateforme.</a:t>
            </a:r>
          </a:p>
        </p:txBody>
      </p:sp>
      <p:sp>
        <p:nvSpPr>
          <p:cNvPr id="7" name="Rectangle 6"/>
          <p:cNvSpPr/>
          <p:nvPr/>
        </p:nvSpPr>
        <p:spPr>
          <a:xfrm>
            <a:off x="3760705" y="5740360"/>
            <a:ext cx="8994940" cy="630942"/>
          </a:xfrm>
          <a:prstGeom prst="rect">
            <a:avLst/>
          </a:prstGeom>
        </p:spPr>
        <p:txBody>
          <a:bodyPr wrap="square">
            <a:spAutoFit/>
          </a:bodyPr>
          <a:lstStyle/>
          <a:p>
            <a:r>
              <a:rPr lang="fr-FR" sz="3500" b="1" dirty="0" smtClean="0">
                <a:latin typeface="Times New Roman" panose="02020603050405020304" pitchFamily="18" charset="0"/>
                <a:cs typeface="Times New Roman" panose="02020603050405020304" pitchFamily="18" charset="0"/>
              </a:rPr>
              <a:t>Déploiement </a:t>
            </a:r>
            <a:r>
              <a:rPr lang="fr-FR" sz="3500" b="1" dirty="0">
                <a:latin typeface="Times New Roman" panose="02020603050405020304" pitchFamily="18" charset="0"/>
                <a:cs typeface="Times New Roman" panose="02020603050405020304" pitchFamily="18" charset="0"/>
              </a:rPr>
              <a:t>limité à un environnement local</a:t>
            </a:r>
          </a:p>
        </p:txBody>
      </p:sp>
      <p:sp>
        <p:nvSpPr>
          <p:cNvPr id="8" name="Rectangle 7"/>
          <p:cNvSpPr/>
          <p:nvPr/>
        </p:nvSpPr>
        <p:spPr>
          <a:xfrm>
            <a:off x="4381500" y="6687235"/>
            <a:ext cx="10001250" cy="1477328"/>
          </a:xfrm>
          <a:prstGeom prst="rect">
            <a:avLst/>
          </a:prstGeom>
        </p:spPr>
        <p:txBody>
          <a:bodyPr wrap="square">
            <a:spAutoFit/>
          </a:bodyPr>
          <a:lstStyle/>
          <a:p>
            <a:r>
              <a:rPr lang="fr-FR" sz="3000" dirty="0">
                <a:latin typeface="Times New Roman" panose="02020603050405020304" pitchFamily="18" charset="0"/>
                <a:cs typeface="Times New Roman" panose="02020603050405020304" pitchFamily="18" charset="0"/>
              </a:rPr>
              <a:t>L'application a été développée et testée dans un environnement local. Elle n'a pas encore été déployée sur un serveur de production accessible au grand public.</a:t>
            </a:r>
          </a:p>
        </p:txBody>
      </p:sp>
      <p:pic>
        <p:nvPicPr>
          <p:cNvPr id="9" name="Imag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0181" y="2222047"/>
            <a:ext cx="966869" cy="1041244"/>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7050" y="5539313"/>
            <a:ext cx="1319213" cy="1033035"/>
          </a:xfrm>
          <a:prstGeom prst="rect">
            <a:avLst/>
          </a:prstGeom>
        </p:spPr>
      </p:pic>
    </p:spTree>
    <p:extLst>
      <p:ext uri="{BB962C8B-B14F-4D97-AF65-F5344CB8AC3E}">
        <p14:creationId xmlns:p14="http://schemas.microsoft.com/office/powerpoint/2010/main" val="27741049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0"/>
          <p:cNvSpPr txBox="1"/>
          <p:nvPr/>
        </p:nvSpPr>
        <p:spPr>
          <a:xfrm>
            <a:off x="-154812" y="4378970"/>
            <a:ext cx="7851012" cy="538609"/>
          </a:xfrm>
          <a:prstGeom prst="rect">
            <a:avLst/>
          </a:prstGeom>
        </p:spPr>
        <p:txBody>
          <a:bodyPr wrap="square" lIns="0" tIns="0" rIns="0" bIns="0" rtlCol="0" anchor="t">
            <a:spAutoFit/>
          </a:bodyPr>
          <a:lstStyle/>
          <a:p>
            <a:pPr algn="ctr">
              <a:lnSpc>
                <a:spcPts val="4200"/>
              </a:lnSpc>
              <a:spcBef>
                <a:spcPct val="0"/>
              </a:spcBef>
            </a:pPr>
            <a:r>
              <a:rPr lang="en-US" sz="5000" b="1" dirty="0">
                <a:solidFill>
                  <a:srgbClr val="000000"/>
                </a:solidFill>
                <a:latin typeface="Times New Roman MT Bold"/>
                <a:ea typeface="Times New Roman MT Bold"/>
                <a:cs typeface="Times New Roman MT Bold"/>
                <a:sym typeface="Times New Roman MT Bold"/>
              </a:rPr>
              <a:t>PERSPECTIVES</a:t>
            </a:r>
          </a:p>
        </p:txBody>
      </p:sp>
      <p:sp>
        <p:nvSpPr>
          <p:cNvPr id="8" name="Rectangle 7"/>
          <p:cNvSpPr/>
          <p:nvPr/>
        </p:nvSpPr>
        <p:spPr>
          <a:xfrm>
            <a:off x="10248900" y="1154666"/>
            <a:ext cx="9144000" cy="2031325"/>
          </a:xfrm>
          <a:prstGeom prst="rect">
            <a:avLst/>
          </a:prstGeom>
        </p:spPr>
        <p:txBody>
          <a:bodyPr>
            <a:spAutoFit/>
          </a:bodyPr>
          <a:lstStyle/>
          <a:p>
            <a:r>
              <a:rPr lang="fr-FR" sz="3600" b="1" dirty="0" smtClean="0">
                <a:latin typeface="Times New Roman" panose="02020603050405020304" pitchFamily="18" charset="0"/>
                <a:cs typeface="Times New Roman" panose="02020603050405020304" pitchFamily="18" charset="0"/>
              </a:rPr>
              <a:t>À </a:t>
            </a:r>
            <a:r>
              <a:rPr lang="fr-FR" sz="3600" b="1" dirty="0">
                <a:latin typeface="Times New Roman" panose="02020603050405020304" pitchFamily="18" charset="0"/>
                <a:cs typeface="Times New Roman" panose="02020603050405020304" pitchFamily="18" charset="0"/>
              </a:rPr>
              <a:t>court </a:t>
            </a:r>
            <a:r>
              <a:rPr lang="fr-FR" sz="3600" b="1" dirty="0" smtClean="0">
                <a:latin typeface="Times New Roman" panose="02020603050405020304" pitchFamily="18" charset="0"/>
                <a:cs typeface="Times New Roman" panose="02020603050405020304" pitchFamily="18" charset="0"/>
              </a:rPr>
              <a:t>terme</a:t>
            </a:r>
          </a:p>
          <a:p>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Déployer l'application en production. </a:t>
            </a: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Améliorer les notifications des utilisateurs.</a:t>
            </a:r>
          </a:p>
        </p:txBody>
      </p:sp>
      <p:sp>
        <p:nvSpPr>
          <p:cNvPr id="9" name="Rectangle 8"/>
          <p:cNvSpPr/>
          <p:nvPr/>
        </p:nvSpPr>
        <p:spPr>
          <a:xfrm>
            <a:off x="10077450" y="3909610"/>
            <a:ext cx="9144000" cy="1938992"/>
          </a:xfrm>
          <a:prstGeom prst="rect">
            <a:avLst/>
          </a:prstGeom>
        </p:spPr>
        <p:txBody>
          <a:bodyPr>
            <a:spAutoFit/>
          </a:bodyPr>
          <a:lstStyle/>
          <a:p>
            <a:r>
              <a:rPr lang="fr-FR" sz="3000" b="1" dirty="0">
                <a:latin typeface="Times New Roman" panose="02020603050405020304" pitchFamily="18" charset="0"/>
                <a:cs typeface="Times New Roman" panose="02020603050405020304" pitchFamily="18" charset="0"/>
              </a:rPr>
              <a:t>À moyen </a:t>
            </a:r>
            <a:r>
              <a:rPr lang="fr-FR" sz="3000" b="1" dirty="0" smtClean="0">
                <a:latin typeface="Times New Roman" panose="02020603050405020304" pitchFamily="18" charset="0"/>
                <a:cs typeface="Times New Roman" panose="02020603050405020304" pitchFamily="18" charset="0"/>
              </a:rPr>
              <a:t>terme</a:t>
            </a:r>
          </a:p>
          <a:p>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Intégrer les paiements Mobile Money. </a:t>
            </a: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Renforcer les fonctionnalités de géolocalisation.</a:t>
            </a:r>
          </a:p>
        </p:txBody>
      </p:sp>
      <p:sp>
        <p:nvSpPr>
          <p:cNvPr id="10" name="Rectangle 9"/>
          <p:cNvSpPr/>
          <p:nvPr/>
        </p:nvSpPr>
        <p:spPr>
          <a:xfrm>
            <a:off x="10077450" y="6815435"/>
            <a:ext cx="7677150" cy="2862322"/>
          </a:xfrm>
          <a:prstGeom prst="rect">
            <a:avLst/>
          </a:prstGeom>
        </p:spPr>
        <p:txBody>
          <a:bodyPr wrap="square">
            <a:spAutoFit/>
          </a:bodyPr>
          <a:lstStyle/>
          <a:p>
            <a:r>
              <a:rPr lang="fr-FR" sz="3000" b="1" dirty="0" smtClean="0">
                <a:latin typeface="Times New Roman" panose="02020603050405020304" pitchFamily="18" charset="0"/>
                <a:cs typeface="Times New Roman" panose="02020603050405020304" pitchFamily="18" charset="0"/>
              </a:rPr>
              <a:t>À </a:t>
            </a:r>
            <a:r>
              <a:rPr lang="fr-FR" sz="3000" b="1" dirty="0">
                <a:latin typeface="Times New Roman" panose="02020603050405020304" pitchFamily="18" charset="0"/>
                <a:cs typeface="Times New Roman" panose="02020603050405020304" pitchFamily="18" charset="0"/>
              </a:rPr>
              <a:t>long </a:t>
            </a:r>
            <a:r>
              <a:rPr lang="fr-FR" sz="3000" b="1" dirty="0" smtClean="0">
                <a:latin typeface="Times New Roman" panose="02020603050405020304" pitchFamily="18" charset="0"/>
                <a:cs typeface="Times New Roman" panose="02020603050405020304" pitchFamily="18" charset="0"/>
              </a:rPr>
              <a:t>terme</a:t>
            </a:r>
          </a:p>
          <a:p>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Intégrer des fonctionnalités d'intelligence artificielle. </a:t>
            </a:r>
          </a:p>
          <a:p>
            <a:pPr>
              <a:buFont typeface="Arial" panose="020B0604020202020204" pitchFamily="34" charset="0"/>
              <a:buChar char="•"/>
            </a:pPr>
            <a:r>
              <a:rPr lang="fr-FR" sz="3000" dirty="0">
                <a:latin typeface="Times New Roman" panose="02020603050405020304" pitchFamily="18" charset="0"/>
                <a:cs typeface="Times New Roman" panose="02020603050405020304" pitchFamily="18" charset="0"/>
              </a:rPr>
              <a:t>Automatiser la publication et la gestion des annonces.</a:t>
            </a:r>
          </a:p>
        </p:txBody>
      </p:sp>
    </p:spTree>
    <p:extLst>
      <p:ext uri="{BB962C8B-B14F-4D97-AF65-F5344CB8AC3E}">
        <p14:creationId xmlns:p14="http://schemas.microsoft.com/office/powerpoint/2010/main" val="15871732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p:nvPr/>
        </p:nvSpPr>
        <p:spPr>
          <a:xfrm>
            <a:off x="6686330" y="115235"/>
            <a:ext cx="4667470" cy="854721"/>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Times New Roman MT Bold"/>
                <a:ea typeface="Times New Roman MT Bold"/>
                <a:cs typeface="Times New Roman MT Bold"/>
                <a:sym typeface="Times New Roman MT Bold"/>
              </a:rPr>
              <a:t>CONCLUSION</a:t>
            </a:r>
          </a:p>
        </p:txBody>
      </p:sp>
      <p:sp>
        <p:nvSpPr>
          <p:cNvPr id="5" name="Rectangle 4"/>
          <p:cNvSpPr/>
          <p:nvPr/>
        </p:nvSpPr>
        <p:spPr>
          <a:xfrm>
            <a:off x="1619250" y="2309336"/>
            <a:ext cx="15011400" cy="5216813"/>
          </a:xfrm>
          <a:prstGeom prst="rect">
            <a:avLst/>
          </a:prstGeom>
        </p:spPr>
        <p:txBody>
          <a:bodyPr wrap="square">
            <a:spAutoFit/>
          </a:bodyPr>
          <a:lstStyle/>
          <a:p>
            <a:r>
              <a:rPr lang="fr-FR" sz="3600" dirty="0">
                <a:latin typeface="Times New Roman" panose="02020603050405020304" pitchFamily="18" charset="0"/>
                <a:cs typeface="Times New Roman" panose="02020603050405020304" pitchFamily="18" charset="0"/>
              </a:rPr>
              <a:t>Le développement de l'application </a:t>
            </a:r>
            <a:r>
              <a:rPr lang="fr-FR" sz="3600" dirty="0" err="1">
                <a:latin typeface="Times New Roman" panose="02020603050405020304" pitchFamily="18" charset="0"/>
                <a:cs typeface="Times New Roman" panose="02020603050405020304" pitchFamily="18" charset="0"/>
              </a:rPr>
              <a:t>AttouHome</a:t>
            </a:r>
            <a:r>
              <a:rPr lang="fr-FR" sz="3600" dirty="0">
                <a:latin typeface="Times New Roman" panose="02020603050405020304" pitchFamily="18" charset="0"/>
                <a:cs typeface="Times New Roman" panose="02020603050405020304" pitchFamily="18" charset="0"/>
              </a:rPr>
              <a:t> a permis de </a:t>
            </a:r>
            <a:r>
              <a:rPr lang="fr-FR" sz="3600" dirty="0" smtClean="0">
                <a:latin typeface="Times New Roman" panose="02020603050405020304" pitchFamily="18" charset="0"/>
                <a:cs typeface="Times New Roman" panose="02020603050405020304" pitchFamily="18" charset="0"/>
              </a:rPr>
              <a:t>:</a:t>
            </a:r>
          </a:p>
          <a:p>
            <a:endParaRPr lang="fr-FR" sz="3300" dirty="0">
              <a:latin typeface="Times New Roman" panose="02020603050405020304" pitchFamily="18" charset="0"/>
              <a:cs typeface="Times New Roman" panose="02020603050405020304" pitchFamily="18" charset="0"/>
            </a:endParaRPr>
          </a:p>
          <a:p>
            <a:r>
              <a:rPr lang="fr-FR" sz="3300" dirty="0">
                <a:latin typeface="Times New Roman" panose="02020603050405020304" pitchFamily="18" charset="0"/>
                <a:cs typeface="Times New Roman" panose="02020603050405020304" pitchFamily="18" charset="0"/>
              </a:rPr>
              <a:t>🏠 </a:t>
            </a:r>
            <a:r>
              <a:rPr lang="fr-FR" sz="3300" b="1" dirty="0">
                <a:latin typeface="Times New Roman" panose="02020603050405020304" pitchFamily="18" charset="0"/>
                <a:cs typeface="Times New Roman" panose="02020603050405020304" pitchFamily="18" charset="0"/>
              </a:rPr>
              <a:t>Centraliser</a:t>
            </a:r>
            <a:r>
              <a:rPr lang="fr-FR" sz="3300" dirty="0">
                <a:latin typeface="Times New Roman" panose="02020603050405020304" pitchFamily="18" charset="0"/>
                <a:cs typeface="Times New Roman" panose="02020603050405020304" pitchFamily="18" charset="0"/>
              </a:rPr>
              <a:t> les annonces immobilières sur une plateforme unique</a:t>
            </a:r>
            <a:r>
              <a:rPr lang="fr-FR" sz="3300" dirty="0" smtClean="0">
                <a:latin typeface="Times New Roman" panose="02020603050405020304" pitchFamily="18" charset="0"/>
                <a:cs typeface="Times New Roman" panose="02020603050405020304" pitchFamily="18" charset="0"/>
              </a:rPr>
              <a:t>.</a:t>
            </a:r>
          </a:p>
          <a:p>
            <a:endParaRPr lang="fr-FR" sz="3300" dirty="0">
              <a:latin typeface="Times New Roman" panose="02020603050405020304" pitchFamily="18" charset="0"/>
              <a:cs typeface="Times New Roman" panose="02020603050405020304" pitchFamily="18" charset="0"/>
            </a:endParaRPr>
          </a:p>
          <a:p>
            <a:r>
              <a:rPr lang="fr-FR" sz="3300" dirty="0" smtClean="0">
                <a:latin typeface="Times New Roman" panose="02020603050405020304" pitchFamily="18" charset="0"/>
                <a:cs typeface="Times New Roman" panose="02020603050405020304" pitchFamily="18" charset="0"/>
              </a:rPr>
              <a:t>👥 </a:t>
            </a:r>
            <a:r>
              <a:rPr lang="fr-FR" sz="3300" b="1" dirty="0">
                <a:latin typeface="Times New Roman" panose="02020603050405020304" pitchFamily="18" charset="0"/>
                <a:cs typeface="Times New Roman" panose="02020603050405020304" pitchFamily="18" charset="0"/>
              </a:rPr>
              <a:t>Faciliter</a:t>
            </a:r>
            <a:r>
              <a:rPr lang="fr-FR" sz="3300" dirty="0">
                <a:latin typeface="Times New Roman" panose="02020603050405020304" pitchFamily="18" charset="0"/>
                <a:cs typeface="Times New Roman" panose="02020603050405020304" pitchFamily="18" charset="0"/>
              </a:rPr>
              <a:t> la mise en relation entre locataires, propriétaires et administrateurs</a:t>
            </a:r>
            <a:r>
              <a:rPr lang="fr-FR" sz="3300" dirty="0" smtClean="0">
                <a:latin typeface="Times New Roman" panose="02020603050405020304" pitchFamily="18" charset="0"/>
                <a:cs typeface="Times New Roman" panose="02020603050405020304" pitchFamily="18" charset="0"/>
              </a:rPr>
              <a:t>.</a:t>
            </a:r>
          </a:p>
          <a:p>
            <a:endParaRPr lang="fr-FR" sz="3300" dirty="0">
              <a:latin typeface="Times New Roman" panose="02020603050405020304" pitchFamily="18" charset="0"/>
              <a:cs typeface="Times New Roman" panose="02020603050405020304" pitchFamily="18" charset="0"/>
            </a:endParaRPr>
          </a:p>
          <a:p>
            <a:r>
              <a:rPr lang="fr-FR" sz="3300" dirty="0">
                <a:latin typeface="Times New Roman" panose="02020603050405020304" pitchFamily="18" charset="0"/>
                <a:cs typeface="Times New Roman" panose="02020603050405020304" pitchFamily="18" charset="0"/>
              </a:rPr>
              <a:t>⚡ </a:t>
            </a:r>
            <a:r>
              <a:rPr lang="fr-FR" sz="3300" b="1" dirty="0">
                <a:latin typeface="Times New Roman" panose="02020603050405020304" pitchFamily="18" charset="0"/>
                <a:cs typeface="Times New Roman" panose="02020603050405020304" pitchFamily="18" charset="0"/>
              </a:rPr>
              <a:t>Simplifier</a:t>
            </a:r>
            <a:r>
              <a:rPr lang="fr-FR" sz="3300" dirty="0">
                <a:latin typeface="Times New Roman" panose="02020603050405020304" pitchFamily="18" charset="0"/>
                <a:cs typeface="Times New Roman" panose="02020603050405020304" pitchFamily="18" charset="0"/>
              </a:rPr>
              <a:t> la recherche de logements et la gestion des demandes de visite</a:t>
            </a:r>
            <a:r>
              <a:rPr lang="fr-FR" sz="3300" dirty="0" smtClean="0">
                <a:latin typeface="Times New Roman" panose="02020603050405020304" pitchFamily="18" charset="0"/>
                <a:cs typeface="Times New Roman" panose="02020603050405020304" pitchFamily="18" charset="0"/>
              </a:rPr>
              <a:t>.</a:t>
            </a:r>
          </a:p>
          <a:p>
            <a:endParaRPr lang="fr-FR" sz="3300" dirty="0">
              <a:latin typeface="Times New Roman" panose="02020603050405020304" pitchFamily="18" charset="0"/>
              <a:cs typeface="Times New Roman" panose="02020603050405020304" pitchFamily="18" charset="0"/>
            </a:endParaRPr>
          </a:p>
          <a:p>
            <a:r>
              <a:rPr lang="fr-FR" sz="3300" dirty="0">
                <a:latin typeface="Times New Roman" panose="02020603050405020304" pitchFamily="18" charset="0"/>
                <a:cs typeface="Times New Roman" panose="02020603050405020304" pitchFamily="18" charset="0"/>
              </a:rPr>
              <a:t>🔒 </a:t>
            </a:r>
            <a:r>
              <a:rPr lang="fr-FR" sz="3300" b="1" dirty="0">
                <a:latin typeface="Times New Roman" panose="02020603050405020304" pitchFamily="18" charset="0"/>
                <a:cs typeface="Times New Roman" panose="02020603050405020304" pitchFamily="18" charset="0"/>
              </a:rPr>
              <a:t>Moderniser</a:t>
            </a:r>
            <a:r>
              <a:rPr lang="fr-FR" sz="3300" dirty="0">
                <a:latin typeface="Times New Roman" panose="02020603050405020304" pitchFamily="18" charset="0"/>
                <a:cs typeface="Times New Roman" panose="02020603050405020304" pitchFamily="18" charset="0"/>
              </a:rPr>
              <a:t> la gestion des annonces grâce à une solution web et mobile sécurisée</a:t>
            </a:r>
            <a:r>
              <a:rPr lang="fr-FR" sz="3300" dirty="0" smtClean="0">
                <a:latin typeface="Times New Roman" panose="02020603050405020304" pitchFamily="18" charset="0"/>
                <a:cs typeface="Times New Roman" panose="02020603050405020304" pitchFamily="18" charset="0"/>
              </a:rPr>
              <a:t>.</a:t>
            </a:r>
          </a:p>
          <a:p>
            <a:endParaRPr lang="fr-FR"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2678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p:nvPr/>
        </p:nvSpPr>
        <p:spPr>
          <a:xfrm>
            <a:off x="3371472" y="3924300"/>
            <a:ext cx="12366486" cy="815975"/>
          </a:xfrm>
          <a:prstGeom prst="rect">
            <a:avLst/>
          </a:prstGeom>
        </p:spPr>
        <p:txBody>
          <a:bodyPr lIns="0" tIns="0" rIns="0" bIns="0" rtlCol="0" anchor="t">
            <a:spAutoFit/>
          </a:bodyPr>
          <a:lstStyle/>
          <a:p>
            <a:pPr marL="0" lvl="0" indent="0" algn="ctr">
              <a:lnSpc>
                <a:spcPts val="5500"/>
              </a:lnSpc>
              <a:spcBef>
                <a:spcPct val="0"/>
              </a:spcBef>
            </a:pPr>
            <a:r>
              <a:rPr lang="en-US" sz="5000" b="1" u="none" dirty="0">
                <a:solidFill>
                  <a:srgbClr val="000000"/>
                </a:solidFill>
                <a:latin typeface="Times New Roman MT Semi-Bold"/>
                <a:ea typeface="Times New Roman MT Semi-Bold"/>
                <a:cs typeface="Times New Roman MT Semi-Bold"/>
                <a:sym typeface="Times New Roman MT Semi-Bold"/>
              </a:rPr>
              <a:t>MERCI POUR VOTRE ATTENTION !</a:t>
            </a:r>
          </a:p>
        </p:txBody>
      </p:sp>
    </p:spTree>
    <p:extLst>
      <p:ext uri="{BB962C8B-B14F-4D97-AF65-F5344CB8AC3E}">
        <p14:creationId xmlns:p14="http://schemas.microsoft.com/office/powerpoint/2010/main" val="2811130486"/>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197</TotalTime>
  <Words>726</Words>
  <Application>Microsoft Office PowerPoint</Application>
  <PresentationFormat>Personnalisé</PresentationFormat>
  <Paragraphs>84</Paragraphs>
  <Slides>19</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19</vt:i4>
      </vt:variant>
    </vt:vector>
  </HeadingPairs>
  <TitlesOfParts>
    <vt:vector size="28" baseType="lpstr">
      <vt:lpstr>Arial</vt:lpstr>
      <vt:lpstr>Calibri</vt:lpstr>
      <vt:lpstr>Calibri Light</vt:lpstr>
      <vt:lpstr>Times New Roman</vt:lpstr>
      <vt:lpstr>Times New Roman Bold</vt:lpstr>
      <vt:lpstr>Times New Roman MT</vt:lpstr>
      <vt:lpstr>Times New Roman MT Bold</vt:lpstr>
      <vt:lpstr>Times New Roman MT Semi-Bold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KT156S</dc:creator>
  <cp:lastModifiedBy>KT156S</cp:lastModifiedBy>
  <cp:revision>20</cp:revision>
  <dcterms:created xsi:type="dcterms:W3CDTF">2026-07-08T09:48:34Z</dcterms:created>
  <dcterms:modified xsi:type="dcterms:W3CDTF">2026-07-13T11:19:43Z</dcterms:modified>
</cp:coreProperties>
</file>